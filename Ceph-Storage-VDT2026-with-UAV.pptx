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6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4610"/>
  </p:normalViewPr>
  <p:slideViewPr>
    <p:cSldViewPr snapToGrid="0" snapToObjects="1">
      <p:cViewPr>
        <p:scale>
          <a:sx n="170" d="100"/>
          <a:sy n="170" d="100"/>
        </p:scale>
        <p:origin x="2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Relationship Id="rId60" Type="http://schemas.openxmlformats.org/officeDocument/2006/relationships/slide" Target="slides/slide2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323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Câu mở đầu: "Data must never be lost." Đây là triết lý cốt lõi của Ceph.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mạnh bằng câu quote. Code có thể redeploy, VM có thể restart, nhưng data mất là mất vĩnh viễn.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Nói nhanh timeline 30 giây. Điểm nhấn: CERN 65PB, 10.800 OSD chỉ cần 3 MON — con số gây ấn tượng.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CRUSH khac centralized index nhu the nao? Khi nao centralized tot hon?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hoi dong chac chan hoi. Giai thich ro tai sao CRUSH loai bo hoan toan nhu cau ve metadata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CRUSH co dam bao replica khac server khong? → Khong tu dong — phu thuoc failure domain trong CRUSH map. Default la host, production nen dung 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Q2: Ceph thuoc loai nao trong CAP theorem? Tai sao? Hoi dong day slide nay — chac chan hoi.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943600" cy="5943600"/>
          </a:xfrm>
          <a:prstGeom prst="ellipse">
            <a:avLst/>
          </a:prstGeom>
          <a:solidFill>
            <a:srgbClr val="C62828">
              <a:alpha val="4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3657600" cy="3657600"/>
          </a:xfrm>
          <a:prstGeom prst="ellipse">
            <a:avLst/>
          </a:prstGeom>
          <a:solidFill>
            <a:srgbClr val="E53935">
              <a:alpha val="3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Trình bày Chi tiết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4572000" cy="0"/>
          </a:xfrm>
          <a:prstGeom prst="line">
            <a:avLst/>
          </a:prstGeom>
          <a:noFill/>
          <a:ln w="1905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2026  ·  Bài thi ngày 6/7/2026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phút: 22 phút trình bày + 7-8 phút Q&amp;A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điểm core + 3 điểm extended research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22 Phút Trình Bày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5806440" cy="347472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Nhãn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Thời gian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Mở đầu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SDS Philosophy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Lookup: CRUSH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Kiến trúc RADOS + 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BlueStore + mClock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Storage Interfaces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Theorem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OpenStack + K8s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Extended: Bucket Notification +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phút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= nói chậm, rõ — hội đồng SẼ hỏi sâu   |   FAST = nói nhanh, họ đã biết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Storage Quan Trọng?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1 — 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1097280"/>
          </a:xfrm>
          <a:prstGeom prst="roundRect">
            <a:avLst>
              <a:gd name="adj" fmla="val 8333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"Data must never be lost."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redeploy lại trong vài phút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thể restart sau sự cố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24231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17920" y="2944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Mất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MẤT VĨNH VIỄN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không thể khôi phục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069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Website </a:t>
            </a:r>
            <a:r>
              <a:rPr lang="en-US" sz="13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transaction logs  ·  Cloud </a:t>
            </a:r>
            <a:r>
              <a:rPr lang="en-US" sz="13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VM state  ·  AI </a:t>
            </a:r>
            <a:r>
              <a:rPr lang="en-US" sz="13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training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4074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storage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đáng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tin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Ceph: Lich Su &amp; Trien Khai Thuc 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Phần 1 – </a:t>
            </a:r>
            <a:r>
              <a:rPr lang="en-US" sz="1100" dirty="0" err="1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</a:t>
            </a: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395728"/>
            <a:ext cx="7498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240280"/>
            <a:ext cx="301752" cy="30175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72" y="2569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84" y="2838408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Weil bat dau PhD tai UC Santa Cruz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2240280"/>
            <a:ext cx="301752" cy="30175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848" y="257242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91293" y="2841851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2240280"/>
            <a:ext cx="301752" cy="30175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9368" y="257242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96528" y="286207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Thanh lap Inktank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2240280"/>
            <a:ext cx="301752" cy="30175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3888" y="257242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7032" y="2836632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mua lai Inktank — SDS pho bien nhat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65592" y="2240280"/>
            <a:ext cx="301752" cy="30175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5409" y="25535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62088" y="2852927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OpenStack, Kubernetes, 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3840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 Nam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Viettel (2018), VCCorp, FPT, VNPT, OMZ Cloud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384048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CERN — Scale </a:t>
            </a:r>
            <a:r>
              <a:rPr lang="en-US" sz="14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</a:t>
            </a: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4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4206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65 PB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  | 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10.800 OSD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| 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 node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 2: Software-Defined Storage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— 2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704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Storage (SDS)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Tách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biệt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phần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mềm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quản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lý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storage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khỏi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phần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cứng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cho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phép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chạy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trên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commodity hardware (HHD/SSD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thông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thường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).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Không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vendor lock-in, chi phi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thấp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 xml:space="preserve"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hơn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14884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Truyen thong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NetApp, EMC, Dell — appliance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đắt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Vendor lock-in: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Scale bang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appliance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849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/>
              <a:t>Phần</a:t>
            </a:r>
            <a:r>
              <a:rPr lang="en-US" sz="1150" dirty="0"/>
              <a:t xml:space="preserve"> </a:t>
            </a:r>
            <a:r>
              <a:rPr lang="en-US" sz="1150" dirty="0" err="1"/>
              <a:t>cứng</a:t>
            </a:r>
            <a:r>
              <a:rPr lang="en-US" sz="1150" dirty="0"/>
              <a:t xml:space="preserve"> </a:t>
            </a:r>
            <a:r>
              <a:rPr lang="en-US" sz="1150" dirty="0" err="1"/>
              <a:t>chuyên</a:t>
            </a:r>
            <a:r>
              <a:rPr lang="en-US" sz="1150" dirty="0"/>
              <a:t xml:space="preserve"> dung, </a:t>
            </a:r>
            <a:r>
              <a:rPr lang="en-US" sz="1150" dirty="0" err="1"/>
              <a:t>thiếu</a:t>
            </a:r>
            <a:r>
              <a:rPr lang="en-US" sz="1150" dirty="0"/>
              <a:t xml:space="preserve"> </a:t>
            </a:r>
            <a:r>
              <a:rPr lang="en-US" sz="1150" dirty="0" err="1"/>
              <a:t>linh</a:t>
            </a:r>
            <a:r>
              <a:rPr lang="en-US" sz="1150" dirty="0"/>
              <a:t xml:space="preserve"> </a:t>
            </a:r>
            <a:r>
              <a:rPr lang="en-US" sz="1150" dirty="0" err="1"/>
              <a:t>hoạt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214884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2240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(Ceph)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commodity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hardwarw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74920" y="3081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/>
              <a:t>Tự</a:t>
            </a:r>
            <a:r>
              <a:rPr lang="en-US" sz="1150" dirty="0"/>
              <a:t xml:space="preserve"> do </a:t>
            </a:r>
            <a:r>
              <a:rPr lang="en-US" sz="1150" dirty="0" err="1"/>
              <a:t>lựa</a:t>
            </a:r>
            <a:r>
              <a:rPr lang="en-US" sz="1150" dirty="0"/>
              <a:t xml:space="preserve"> </a:t>
            </a:r>
            <a:r>
              <a:rPr lang="en-US" sz="1150" dirty="0" err="1"/>
              <a:t>chọn</a:t>
            </a:r>
            <a:r>
              <a:rPr lang="en-US" sz="1150" dirty="0"/>
              <a:t xml:space="preserve"> </a:t>
            </a:r>
            <a:r>
              <a:rPr lang="en-US" sz="1150" dirty="0" err="1"/>
              <a:t>phần</a:t>
            </a:r>
            <a:r>
              <a:rPr lang="en-US" sz="1150" dirty="0"/>
              <a:t xml:space="preserve"> </a:t>
            </a:r>
            <a:r>
              <a:rPr lang="en-US" sz="1150" dirty="0" err="1"/>
              <a:t>cứng</a:t>
            </a:r>
            <a:r>
              <a:rPr lang="en-US" sz="1150" dirty="0"/>
              <a:t xml:space="preserve">, </a:t>
            </a:r>
            <a:r>
              <a:rPr lang="en-US" sz="1150" dirty="0" err="1"/>
              <a:t>không</a:t>
            </a:r>
            <a:r>
              <a:rPr lang="en-US" sz="1150" dirty="0"/>
              <a:t xml:space="preserve"> vendor lock-in</a:t>
            </a:r>
          </a:p>
        </p:txBody>
      </p:sp>
      <p:sp>
        <p:nvSpPr>
          <p:cNvPr id="19" name="Text 17"/>
          <p:cNvSpPr/>
          <p:nvPr/>
        </p:nvSpPr>
        <p:spPr>
          <a:xfrm>
            <a:off x="5074920" y="3465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Scale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ngang:thêm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server =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capacity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74920" y="3849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Open source,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tục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SDS </a:t>
            </a: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commodity hardware, </a:t>
            </a: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100" i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vendor lock-in.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Thách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→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— SDS Philosophy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937743"/>
              </p:ext>
            </p:extLst>
          </p:nvPr>
        </p:nvGraphicFramePr>
        <p:xfrm>
          <a:off x="411480" y="1078992"/>
          <a:ext cx="8321040" cy="34290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Thách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thức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Storage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truyền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thống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quyết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bằng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Nguyên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tắc</a:t>
                      </a: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Scalability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Scale-up: mua appliance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đắt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hơn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hết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dung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lượng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.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ceiling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trần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Scale-out: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thêm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OSD commodity → capacity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và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throughput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tăng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tuyến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tính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.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ceiling.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No SPoF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Controller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là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chết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.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HA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vẫn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downtime khi failover.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No SPOF. MON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quorum. OSD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replication.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1 node, cluster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vẫn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bình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thường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 Point of 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TCO &amp; Vendor Lock-in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Phụ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thuộc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NetApp/EMC/Dell. Chi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phí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$10k–100k+/TB.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thay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thế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Commodity hardware + open source. TCO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hơn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5–10x.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bị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lock-in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bất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kỳ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vendor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nào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Software-based &amp; Open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Recovery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Disk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chết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→ admin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phải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can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thiệp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thủ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để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detect failure,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rebalance,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replicate sang OSD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.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can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thiệp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thủ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539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Self-Managing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11480" y="4663440"/>
            <a:ext cx="8321040" cy="402336"/>
          </a:xfrm>
          <a:prstGeom prst="roundRect">
            <a:avLst>
              <a:gd name="adj" fmla="val 18182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4709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tắc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5: CRUSH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metadata server: client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-&gt;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bottleneck,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SPOF, scale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tuyến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vs Ceph: Scale-up vs Scale-out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— Tai sao khong tiep tuc dung SAN truyen thong?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8321040" cy="33649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Tieu chi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 Storage (truyen thong)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 Storage (SDS)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 hinh mo 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Scale-up: nang cap controller len model dat 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Scale-out: them node commodity binh thuong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het dung luong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 appliance moi (hang tram nghin USD)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 OSD nodes (commodity hardware)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Gioi han boi controller throughput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 tuyen tinh khi them OSD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la diem chet (du co 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Khong co SPOF — phan tan hoan toan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— phu thuoc NetApp/EMC/Dell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Khong — open source, commodity HW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phi (TCO)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 cao — $10k-100k+/TB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Thap — $500-2000/TB commodity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 ly 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cong — can admin can thiep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dong — self-healing, tu rebalance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8920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scale-up co ceiling — khi dat gioi han controller phai mua moi. Ceph scale-out khong co ceiling — them node la them capacity VA throughput dong thoi.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Nguyen Tac Thiet Ke cua Ceph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 — 2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307592"/>
            <a:ext cx="475488" cy="47548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24712" y="1325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182880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OSD = them capacity VA throughput dong thoi. Khong co ceiling kich thuoc cluster.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7832" y="114300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2424" y="1307592"/>
            <a:ext cx="475488" cy="47548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41064" y="1325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SPOF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92424" y="182880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co diem chet duy nhat. MON chay theo quorum. OSD tu replication. Mat 1 node, cluster van chay.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44184" y="114300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30759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57416" y="132588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Software-based &amp; Open Source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182880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Chay tren commodity hardware. Khong bi lock-in vendor. Release deu dan tu cong dong.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01752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" y="3182112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24712" y="32004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370332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detect failure, tu rebalance, tu scrub kiem tra data integrity. Khong can can thiep thu cong.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27832" y="301752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92424" y="3182112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182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941064" y="320040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 thay the metadata server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92424" y="370332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Thuat toan tinh vi tri data. Khong bottleneck, khong SPOF. Client tu tinh — khong hoi ai.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VN" dirty="0"/>
          </a:p>
        </p:txBody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3: Data Lookup — 2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Khi client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object: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thế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nằm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ở OSD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nghìn</a:t>
            </a:r>
            <a:r>
              <a:rPr lang="en-US" sz="13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OSD?</a:t>
            </a:r>
            <a:endParaRPr lang="en-US" sz="1300" b="1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FF8F8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664208"/>
            <a:ext cx="3534954" cy="347472"/>
          </a:xfrm>
          <a:prstGeom prst="roundRect">
            <a:avLst>
              <a:gd name="adj" fmla="val 31579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59" y="1664208"/>
            <a:ext cx="33898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Centralized (</a:t>
            </a:r>
            <a:r>
              <a:rPr lang="en-US" sz="1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SeaweedFS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Haystack)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Client -&gt; Master Server -&gt;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cứu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index (key-&gt;&gt;volume ID) -&gt; Volume Map Server -&gt; IP storage server -&gt; Client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thẳng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metadata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cluster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nhỏ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918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Master Server = bottleneck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tiềm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ẩn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khi cluster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SPOF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HA.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82219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Tốt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khi: cluster &lt; 100 nodes, </a:t>
            </a:r>
            <a:r>
              <a:rPr lang="en-US" sz="10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metadata </a:t>
            </a:r>
            <a:r>
              <a:rPr lang="en-US" sz="10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F0FBF0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1664208"/>
            <a:ext cx="3520440" cy="347472"/>
          </a:xfrm>
          <a:prstGeom prst="roundRect">
            <a:avLst>
              <a:gd name="adj" fmla="val 3157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6642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CRUSH (Ceph, MinIO)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0848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Client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hash(object_key) -&gt; PG ID -&gt; CRUSH algorithm -&gt;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OSD.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—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ai.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90779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metadata server -&gt;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SPOF,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bottleneck. Scale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41985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Nhược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Khi topology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rebalance.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9319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-&gt; CRUSH </a:t>
            </a:r>
            <a:r>
              <a:rPr lang="en-US" sz="1100" b="1" i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b="1" i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lựa</a:t>
            </a: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b="1" i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b="1" i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Ceph cho scale </a:t>
            </a:r>
            <a:r>
              <a:rPr lang="en-US" sz="1100" b="1" i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</a:t>
            </a:r>
            <a:r>
              <a:rPr lang="en-US" sz="1100" b="1" i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CRUSH Algorithm —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Master Node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3 phut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8321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hash(object_name) &amp; mask  --&gt;  PG ID  --&gt;  CRUSH Map  --&gt;  [ OSD-12, OSD-34, OSD-7 ]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920240"/>
            <a:ext cx="39319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CRUSH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95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Input: object name + cluster map (topology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cluster)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Output: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cụ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replica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07238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deterministic —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input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output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4107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client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3977640" cy="1874520"/>
          </a:xfrm>
          <a:prstGeom prst="roundRect">
            <a:avLst>
              <a:gd name="adj" fmla="val 3902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Domain (replication factor = 3)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395728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7800" y="2450592"/>
            <a:ext cx="457200" cy="45720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443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disk rieng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2395728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245059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9443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disk rieng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06640" y="2395728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26680" y="2450592"/>
            <a:ext cx="457200" cy="457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9443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316382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/ disk rieng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-&gt; </a:t>
            </a:r>
            <a:r>
              <a:rPr lang="en-US" sz="11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Rack A broke: data </a:t>
            </a:r>
            <a:r>
              <a:rPr lang="en-US" sz="11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available </a:t>
            </a:r>
            <a:r>
              <a:rPr lang="en-US" sz="11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Rack B </a:t>
            </a:r>
            <a:r>
              <a:rPr lang="en-US" sz="11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Rack 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3913632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" y="398678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CRUSH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do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master node — client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-9144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 Failure Domain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77523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CRUSH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548640"/>
          </a:xfrm>
          <a:prstGeom prst="roundRect">
            <a:avLst>
              <a:gd name="adj" fmla="val 13333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4300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CRUSH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topology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CRUSH map. Failure domain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OSD cho 1 PG,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nằm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nhau.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3474720" cy="2606040"/>
          </a:xfrm>
          <a:prstGeom prst="roundRect">
            <a:avLst>
              <a:gd name="adj" fmla="val 2807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10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CRUSH Map — Cay topology vat 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38658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7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datacenter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├── rack-A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86207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│   ├── server-1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09981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│   │   ├── OSD-1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│   │   └── OSD-2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5753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│   └── server-2  →  OSD-3, OSD-4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81304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├── rack-B  →  server-3, server-4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05079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└── rack-C  →  server-5, server-6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60520" y="1737360"/>
            <a:ext cx="45720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43400" y="1810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Failure Domain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297799"/>
              </p:ext>
            </p:extLst>
          </p:nvPr>
        </p:nvGraphicFramePr>
        <p:xfrm>
          <a:off x="4251960" y="2148840"/>
          <a:ext cx="4389120" cy="19202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Bảo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vệ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khỏi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</a:t>
                      </a: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khi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disk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hỏng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/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(default)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Server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chết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Production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cơ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Cả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rack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mất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điện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Production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nghiêm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túc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Thảm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05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hoạ</a:t>
                      </a: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DC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Multi-site / 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411480" y="4462272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" y="45171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Truong </a:t>
            </a:r>
            <a:r>
              <a:rPr lang="en-US" sz="110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</a:t>
            </a: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vi </a:t>
            </a:r>
            <a:r>
              <a:rPr lang="en-US" sz="110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</a:t>
            </a: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606040" y="4517136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failure domain = host, replication = 3,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 server → CRUSH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 replica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server → PG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'degraded'.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" y="5102352"/>
            <a:ext cx="8321040" cy="0"/>
          </a:xfrm>
          <a:prstGeom prst="roundRect">
            <a:avLst>
              <a:gd name="adj" fmla="val Infinity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4: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RADOS &amp; Placement Groups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— 2.5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RADOS — Core Engine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Ceph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Reliable Autonomic Distributed Object Store —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interfaces (RBD, CephFS, RadosGW)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dưới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dạng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objects trong RADOS.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replication, consistency, recovery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39776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70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ghi (Write Flow)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Client hash(object) -&gt;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PG 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37760" y="179222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CRUSH map -&gt; Primary OSD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20482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Primary -&gt; replication sang Secondary + Tertiary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37760" y="23042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4.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ACK -&gt; Primary ACK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Client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697480"/>
            <a:ext cx="8321040" cy="0"/>
          </a:xfrm>
          <a:prstGeom prst="line">
            <a:avLst/>
          </a:prstGeom>
          <a:noFill/>
          <a:ln w="9525">
            <a:solidFill>
              <a:srgbClr val="FF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88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Placement Group (PG) — </a:t>
            </a:r>
            <a:r>
              <a:rPr lang="en-US" sz="15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</a:t>
            </a:r>
            <a:r>
              <a:rPr lang="en-US" sz="15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Trung Gian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" y="3218688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sao can PG?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2286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Cluster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objects.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map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thẳng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vao OSD -&gt;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rebalance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 =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PG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objects: CRUSH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PG (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3218688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&amp; </a:t>
            </a:r>
            <a:r>
              <a:rPr lang="en-US" sz="12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pgid = hash(object) &amp; 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977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HDD: 50-100 PG/OSD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SSD/NVMe: 100-200 PG/OSD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32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PG: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active+clean / degraded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peering / scrubbing...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0" y="3218688"/>
            <a:ext cx="27889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310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</a:t>
            </a: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ích</a:t>
            </a: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khi rebalance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3657600"/>
            <a:ext cx="24688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-&gt;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rebalance PG (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050" dirty="0"/>
              <a:t xml:space="preserve">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-&gt; KHÔNG rebalance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object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-&gt;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CERN: 10.800 OSD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nhờ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PG layer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này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Sao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Interfaces? — 3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— RADOS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nhau khi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storage — RBD/CephFS/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RadosGW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i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RADOS: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VM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18470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"ghi 4096 bytes vao sector 2048"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249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file,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URL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1560" y="2578608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28216" y="2852928"/>
            <a:ext cx="0" cy="27432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150876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64992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Chuong trinh Linux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8470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open("/data/model.pt")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64992" y="2249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Câfn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file,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67912" y="2578608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7912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44568" y="2852928"/>
            <a:ext cx="0" cy="27432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44184" y="1508760"/>
            <a:ext cx="2633472" cy="1691640"/>
          </a:xfrm>
          <a:prstGeom prst="roundRect">
            <a:avLst>
              <a:gd name="adj" fmla="val 4324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81344" y="15727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/ Cloud 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53912" y="18470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/bucket/photo.jpg"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81344" y="2249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URL,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mount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ở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đĩa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84264" y="2578608"/>
            <a:ext cx="1325880" cy="27432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25786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RadosGW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60920" y="2852928"/>
            <a:ext cx="0" cy="27432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91640" y="3154680"/>
            <a:ext cx="5760720" cy="566928"/>
          </a:xfrm>
          <a:prstGeom prst="roundRect">
            <a:avLst>
              <a:gd name="adj" fmla="val 12903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315468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+ bytes"  →  RADOS  → 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replication / recovery / rebalance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498848" y="3721608"/>
            <a:ext cx="0" cy="256032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400507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46304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OSD-1  (</a:t>
            </a:r>
            <a:r>
              <a:rPr lang="en-US" sz="11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703320" y="400507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79476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OSD-2  (</a:t>
            </a:r>
            <a:r>
              <a:rPr lang="en-US" sz="11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400507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2648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OSD-3  (</a:t>
            </a:r>
            <a:r>
              <a:rPr lang="en-US" sz="110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645152"/>
            <a:ext cx="8321040" cy="420624"/>
          </a:xfrm>
          <a:prstGeom prst="roundRect">
            <a:avLst>
              <a:gd name="adj" fmla="val 17391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94360" y="468172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RBD / CephFS /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RadosGW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ngôn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riêng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mình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RADOS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‘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+ bytes'. Client KHÔNG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biết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bao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nhiêu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sao hay OSD </a:t>
            </a:r>
            <a:r>
              <a:rPr lang="en-US" sz="105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Components &amp; 5 Cluster Maps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— 2.5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448764"/>
              </p:ext>
            </p:extLst>
          </p:nvPr>
        </p:nvGraphicFramePr>
        <p:xfrm>
          <a:off x="411480" y="1078992"/>
          <a:ext cx="8321040" cy="1828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1 disk = 1 OSD.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trữ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tế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,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replication,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recovery khi OSD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khác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càng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nhiều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càng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scale)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cluster map,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đảm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bảo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quorum (Paxos consensus). Client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đọc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map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từ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lẻ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3 / 5 / 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Thu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thập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metrics, dashboard, REST API, Prometheus/Grafana 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Thường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chạy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cùng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Quản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metadata cho CephFS (directory tree, permissions)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CephFS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30175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5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Cluster Map cua MON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3456432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21208" y="346893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Monitor map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" y="369417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MON nodes, IP, port, epoch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27832" y="3456432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19272" y="3447288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OSD map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319272" y="3702053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(up/down/in/out), pool config, replication factor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44184" y="343583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12"/>
          <p:cNvSpPr/>
          <p:nvPr/>
        </p:nvSpPr>
        <p:spPr>
          <a:xfrm>
            <a:off x="6135624" y="34497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PG map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35624" y="369417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PG (active, clean, degraded, peering, scrubbing...)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411480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21208" y="4096512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CRUSH map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1208" y="433648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Topology rack/host/disk + placement rules — input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CRUSH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27832" y="4114800"/>
            <a:ext cx="2633472" cy="566928"/>
          </a:xfrm>
          <a:prstGeom prst="roundRect">
            <a:avLst>
              <a:gd name="adj" fmla="val 12903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3319272" y="4086101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MDS map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319272" y="4339461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tin CephFS metadata servers (chi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CephFS)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MON </a:t>
            </a:r>
            <a:r>
              <a:rPr lang="en-US" sz="105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— </a:t>
            </a:r>
            <a:r>
              <a:rPr lang="en-US" sz="105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metadata </a:t>
            </a:r>
            <a:r>
              <a:rPr lang="en-US" sz="105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cluster.  CERN: 65 PB, 10.800 OSD -&gt; </a:t>
            </a:r>
            <a:r>
              <a:rPr lang="en-US" sz="105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MON node.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Coding vs Replication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 — RADOS Data Protection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99757" y="1176757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2637" y="1231621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vệ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 cluster —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theo access pattern: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2637" y="1560805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cho hot data (IOPS cao, rebuild nhanh)   |   Erasure Coding cho cold data (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kiệm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storage,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62557"/>
            <a:ext cx="3931920" cy="2487168"/>
          </a:xfrm>
          <a:prstGeom prst="roundRect">
            <a:avLst>
              <a:gd name="adj" fmla="val 2941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226565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26565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3x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61975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OSD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nhau.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958085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958085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OSD-1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01368" y="2958085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01368" y="2958085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OSD-2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08376" y="2958085"/>
            <a:ext cx="1078992" cy="47548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08376" y="2958085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OSD-3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3506725"/>
            <a:ext cx="3566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Overhead: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200% —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(2x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thừa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Recovery: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Nhanh —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replica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còn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CPU: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encode/decode
</a:t>
            </a:r>
            <a:r>
              <a:rPr lang="en-US" sz="11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cho: 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Cinder volumes, boot disks, hot data </a:t>
            </a:r>
            <a:r>
              <a:rPr lang="en-US" sz="1100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IOPS cao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57984"/>
            <a:ext cx="3977640" cy="2487168"/>
          </a:xfrm>
          <a:prstGeom prst="roundRect">
            <a:avLst>
              <a:gd name="adj" fmla="val 2941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221992"/>
            <a:ext cx="1737360" cy="320040"/>
          </a:xfrm>
          <a:prstGeom prst="roundRect">
            <a:avLst>
              <a:gd name="adj" fmla="val 3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221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Erasure Coding 4+2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26151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Chia data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4 chunks +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 parity chunks.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95351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87568" y="295351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87568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37376" y="295351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37376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87184" y="2953512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87184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52994" y="2939796"/>
            <a:ext cx="658368" cy="475488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772400" y="295351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6171" y="2935224"/>
            <a:ext cx="448056" cy="484632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VN" dirty="0"/>
          </a:p>
        </p:txBody>
      </p:sp>
      <p:sp>
        <p:nvSpPr>
          <p:cNvPr id="35" name="Text 33"/>
          <p:cNvSpPr/>
          <p:nvPr/>
        </p:nvSpPr>
        <p:spPr>
          <a:xfrm>
            <a:off x="8113014" y="2931719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kỳ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 OSD (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6):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khôi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phục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</a:t>
            </a: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37760" y="377647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Overhead: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~50% — 6/4 = 1.5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Recovery: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Chậm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OSD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reconstruct
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CPU: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 hon — encode khi ghi, decode khi rebuild
</a:t>
            </a:r>
            <a:r>
              <a:rPr lang="en-US" sz="11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cho: </a:t>
            </a: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Backup, archive, Glance images </a:t>
            </a:r>
            <a:r>
              <a:rPr lang="en-US" sz="1100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</a:t>
            </a: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cold data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5: BlueStore —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Qua Linux Filesystem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— 2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31920" cy="2395728"/>
          </a:xfrm>
          <a:prstGeom prst="roundRect">
            <a:avLst>
              <a:gd name="adj" fmla="val 3053"/>
            </a:avLst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FileStore (</a:t>
            </a:r>
            <a:r>
              <a:rPr lang="en-US" sz="140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</a:t>
            </a: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Ghi data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Linux filesystem (ext4, XFS)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190195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FFE5E5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95681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Write -&gt; Journal -&gt; File </a:t>
            </a:r>
            <a:r>
              <a:rPr lang="en-US" sz="105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</a:t>
            </a: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= 2x I/O overhead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542032"/>
            <a:ext cx="3566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Double-write problem: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1: filesystem journal (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atomicity)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lần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2: file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-&gt; 2x I/O overhead, latency cao,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SSD/NVMe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3977640" cy="2395728"/>
          </a:xfrm>
          <a:prstGeom prst="roundRect">
            <a:avLst>
              <a:gd name="adj" fmla="val 3053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BlueStore (</a:t>
            </a:r>
            <a:r>
              <a:rPr lang="en-US" sz="14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Luminous 2017)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Bypass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Linux filesystem,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thẳng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raw block device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37760" y="1901952"/>
            <a:ext cx="356616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956816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-&gt; Raw Block Device (</a:t>
            </a:r>
            <a:r>
              <a:rPr lang="en-US" sz="105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|  Metadata -&gt; RocksDB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2542032"/>
            <a:ext cx="3657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double-write overhead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- 2x throughput so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FileStore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Latency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kể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biệt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NVMe SSD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RocksDB: key-value store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nhúng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metadata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block device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6118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6118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11480" y="4279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6118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6118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3246120" y="4279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36118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36118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080760" y="42793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Double-write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mClock IO Scheduler — QoS cho Storage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5 — 2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640080"/>
          </a:xfrm>
          <a:prstGeom prst="roundRect">
            <a:avLst>
              <a:gd name="adj" fmla="val 11429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43000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huống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: OSD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chết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lúc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2AM -&gt; recovery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bandwidth ngay.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50 client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ghi production.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tiên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cái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200" b="1" dirty="0" err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938528"/>
            <a:ext cx="1554480" cy="292608"/>
          </a:xfrm>
          <a:prstGeom prst="roundRect">
            <a:avLst>
              <a:gd name="adj" fmla="val 37500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reads/writes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8745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938528"/>
            <a:ext cx="1554480" cy="292608"/>
          </a:xfrm>
          <a:prstGeom prst="roundRect">
            <a:avLst>
              <a:gd name="adj" fmla="val 37500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938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060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node failure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8745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938528"/>
            <a:ext cx="1554480" cy="292608"/>
          </a:xfrm>
          <a:prstGeom prst="roundRect">
            <a:avLst>
              <a:gd name="adj" fmla="val 37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938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sau them disk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1874520"/>
            <a:ext cx="192024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938528"/>
            <a:ext cx="1554480" cy="292608"/>
          </a:xfrm>
          <a:prstGeom prst="roundRect">
            <a:avLst>
              <a:gd name="adj" fmla="val 37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19385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tra data integrity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29077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mClock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IO class: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333756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Reservation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8221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X IOPS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thiểu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Class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X IOPS,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đâu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27832" y="333756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10712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— Weight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10712" y="38221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Khi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bandwidth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thừa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class chia proportional theo weight.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starvation.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44184" y="3337560"/>
            <a:ext cx="2633472" cy="1481328"/>
          </a:xfrm>
          <a:prstGeom prst="roundRect">
            <a:avLst>
              <a:gd name="adj" fmla="val 4938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27064" y="3429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Limit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27064" y="382219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, 1 class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 IOPS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bandwidth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Recovery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‘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ăn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’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hết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bandwidth.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du: Recovery R=1 W=1 L=150 IOPS  |  Scrub R=0 W=0.001 L=50 IOPS  -&gt; Client khong starve, recovery chay du nhanh.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Phan 6: 3 Storage Interfaces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1 Cluster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3.5 phut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91840" y="1874520"/>
            <a:ext cx="2560320" cy="123444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87452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Cluster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(RADOS)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463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 Block Device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iSCSI / NVMe-oF / librbd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cho: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VM OS disk (OpenStack Cinder)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K8s PVC ReadWriteOnce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Database (MySQL, PostgreSQL)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1 volume, 1 node mount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3218688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3310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CephFS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3703320"/>
            <a:ext cx="21945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File System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POSIX-compliant / NFS / SMB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cho: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K8s PVC ReadWriteMany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inference (shared model weights)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-&gt;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node mount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14630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RadosGW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92240" y="1847088"/>
            <a:ext cx="22402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/ S3-compatible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Protocol: S3 / HTTP REST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cho: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AI/ML training datasets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 lake, model checkpoints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Bucket Notifications -&gt; Kafka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HTTP clients, unlimited scale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34640" y="2487168"/>
            <a:ext cx="4572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3108960"/>
            <a:ext cx="0" cy="109728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2487168"/>
            <a:ext cx="4572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Sánh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3 Storage Interfaces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3328416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E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RadosGW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(iSCSI/NVMe-oF/librbd)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POSIX / NFS / SMB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/ HTTP 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ReadWriteOnce (RWO)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ReadWriteMany (RWX)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call tu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Chia 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Khong (1 node)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(nhieu node)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(HTTP clients)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 nhat cho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disk, 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ML data, HPC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lake,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workload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serving (local)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 (shared)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+ Notifications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provisioner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rbd.csi.ceph.com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cephfs.csi.ceph.com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API (khong dung CSI)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 chot: RBD = 1 node mount  |  CephFS = nhieu node mount  |  RadosGW = HTTP/S3 khong gioi han client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332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4868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 7: CAP Theorem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2633472" cy="1600200"/>
          </a:xfrm>
          <a:prstGeom prst="roundRect">
            <a:avLst>
              <a:gd name="adj" fmla="val 4571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170432"/>
            <a:ext cx="731520" cy="7315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170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12070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read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mới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.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stale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078992"/>
            <a:ext cx="263347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92424" y="1170432"/>
            <a:ext cx="731520" cy="7315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170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233672" y="12070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193852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request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đều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response,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cũ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44184" y="1078992"/>
            <a:ext cx="2633472" cy="1600200"/>
          </a:xfrm>
          <a:prstGeom prst="roundRect">
            <a:avLst>
              <a:gd name="adj" fmla="val 4571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170432"/>
            <a:ext cx="731520" cy="7315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08776" y="11704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50024" y="120700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Tolerance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81344" y="1938528"/>
            <a:ext cx="235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tục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khi network partition.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buộc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tế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2761488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6148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Ceph = CP (Consistency + Partition Tolerance)  —  Write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confirm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replica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khi ACK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client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396949"/>
              </p:ext>
            </p:extLst>
          </p:nvPr>
        </p:nvGraphicFramePr>
        <p:xfrm>
          <a:off x="411480" y="3364992"/>
          <a:ext cx="8321040" cy="11155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hợp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 (Ceph)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PostgreSQL, HBase, Ceph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Availability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giảm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khi partition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Banking, fintech, VM 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Cassandra, DynamoDB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thể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</a:t>
                      </a:r>
                      <a:r>
                        <a:rPr lang="en-US" sz="11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trả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 xml:space="preserve"> stale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media, shopping cart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11480" y="45720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Trade-off: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network partition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xảy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ra, availability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—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data KHÔNG BAO GIỜ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lost silently.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Phan 8: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OpenStack — 4 Storage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8 — 2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93852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24712" y="1170432"/>
            <a:ext cx="502920" cy="50292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4712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49424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lifecycle: create, attach, detach, snapshot, backup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816352"/>
            <a:ext cx="1554480" cy="256032"/>
          </a:xfrm>
          <a:prstGeom prst="roundRect">
            <a:avLst>
              <a:gd name="adj" fmla="val 42857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RBD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32888" y="1097280"/>
            <a:ext cx="193852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170432"/>
            <a:ext cx="502920" cy="5029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24328" y="171907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24328" y="20116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Service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24328" y="2249424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 VM images (QCOW2, RAW, VMDK) voi COW support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15768" y="2816352"/>
            <a:ext cx="1554480" cy="256032"/>
          </a:xfrm>
          <a:prstGeom prst="roundRect">
            <a:avLst>
              <a:gd name="adj" fmla="val 42857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RBD + COW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4296" y="1097280"/>
            <a:ext cx="193852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67528" y="11704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67528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45736" y="171907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45736" y="20116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45736" y="2249424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Ceph RadosGW (S3-compatible API)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37176" y="2816352"/>
            <a:ext cx="1554480" cy="256032"/>
          </a:xfrm>
          <a:prstGeom prst="roundRect">
            <a:avLst>
              <a:gd name="adj" fmla="val 4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RadosGW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75704" y="1097280"/>
            <a:ext cx="193852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88936" y="117043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88936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67144" y="1719072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67144" y="201168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 System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67144" y="2249424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Shared filesystem multi-tenant </a:t>
            </a:r>
            <a:r>
              <a:rPr lang="en-US" sz="9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quota per share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58584" y="2816352"/>
            <a:ext cx="1554480" cy="256032"/>
          </a:xfrm>
          <a:prstGeom prst="roundRect">
            <a:avLst>
              <a:gd name="adj" fmla="val 4285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8584" y="28163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CephFS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32186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Data Flow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11480" y="3657600"/>
            <a:ext cx="83210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94360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00200" y="367588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/ Cinder / Glance / Manila (OpenStack services)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1480" y="3913632"/>
            <a:ext cx="8321040" cy="237744"/>
          </a:xfrm>
          <a:prstGeom prst="roundRect">
            <a:avLst>
              <a:gd name="adj" fmla="val 30769"/>
            </a:avLst>
          </a:prstGeom>
          <a:solidFill>
            <a:srgbClr val="FFFAFA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94360" y="39319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600200" y="39319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libvirt + QEMU/KVM (Virtualization layer)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169664"/>
            <a:ext cx="8321040" cy="237744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94360" y="4187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600200" y="418795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librbd — RADOS Block Device Library (Ceph client)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4425696"/>
            <a:ext cx="8321040" cy="237744"/>
          </a:xfrm>
          <a:prstGeom prst="roundRect">
            <a:avLst>
              <a:gd name="adj" fmla="val 30769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94360" y="4443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600200" y="444398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Cluster (RADOS)</a:t>
            </a:r>
            <a:endParaRPr lang="en-US" sz="1000" dirty="0"/>
          </a:p>
        </p:txBody>
      </p:sp>
      <p:graphicFrame>
        <p:nvGraphicFramePr>
          <p:cNvPr id="52" name="Table 0">
            <a:extLst>
              <a:ext uri="{FF2B5EF4-FFF2-40B4-BE49-F238E27FC236}">
                <a16:creationId xmlns:a16="http://schemas.microsoft.com/office/drawing/2014/main" id="{185CCCFD-E6D9-5BF9-75B2-953704B30D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8357"/>
              </p:ext>
            </p:extLst>
          </p:nvPr>
        </p:nvGraphicFramePr>
        <p:xfrm>
          <a:off x="411480" y="4407408"/>
          <a:ext cx="8321040" cy="12573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8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Loai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Ceph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Workload chinh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Cinder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(o dia VM)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Database, VM OS 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(template VM)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RBD + COW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 VM nhanh, CI/CD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(S3-compatible)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RadosGW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Media, backup, data lake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8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file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CephFS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dirs, AI/ML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 &amp; Glance — Block Storage + Image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8 — OpenStack Storage Services (chi tiet)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31920" cy="3401568"/>
          </a:xfrm>
          <a:prstGeom prst="roundRect">
            <a:avLst>
              <a:gd name="adj" fmla="val 2151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152144"/>
            <a:ext cx="1188720" cy="320040"/>
          </a:xfrm>
          <a:prstGeom prst="roundRect">
            <a:avLst>
              <a:gd name="adj" fmla="val 34286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521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5179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— Tuong duong EBS (AWS)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Cung cap o dia ao (volume) cho may ao. Volume van ton tai khi VM bi xoa — khong mat data khi terminate VM.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nang: backup, restore, snapshot, clone, resize volume.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Ceph RBD (khuyen nghi), NetApp, IBM Storage, Dell EMC.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971800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E8F4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1752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Database (MySQL/PostgreSQL), may ao doanh nghiep, website can persistent storage.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Ceph: RBD   |   K8s: ReadWriteOnce (RWO)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 = API layer (lifecycle); Ceph RBD = backend luu data. Cinder co the swap backend (NetApp, Pure...) ma khong doi code OpenStack.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78992"/>
            <a:ext cx="3977640" cy="3401568"/>
          </a:xfrm>
          <a:prstGeom prst="roundRect">
            <a:avLst>
              <a:gd name="adj" fmla="val 2151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152144"/>
            <a:ext cx="1188720" cy="320040"/>
          </a:xfrm>
          <a:prstGeom prst="roundRect">
            <a:avLst>
              <a:gd name="adj" fmla="val 3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1521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Service — Template catalog cho VM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ly thu vien OS image de khoi tao VM. Format: QCOW2, RAW, VMDK, VHD. Templates: Ubuntu, CentOS, Windows Server.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359152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47488" y="2395728"/>
            <a:ext cx="3364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voi Ceph: Boot 100 VM tu 1 image goc — KHONG nhan 100x storage. Moi VM chi luu diffs so voi base image. Chi khi VM ghi vao page nao -&gt; Ceph moi copy page do.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063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Ceph RBD (COW nhanh nhat), Swift, NFS, Local.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338328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3429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CI/CD infrastructure, Cloud Virtualization, trien khai hang loat VM tu template.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Ceph: RBD + COW   |   Boot VM nhanh, tiet kiem storage dang ke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4590288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B71C1C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462686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 = 'o dia cho VM' (persistent, exclusive mount)   |   Glance = 'thu vien hinh anh' (COW boot nhanh, khong nhan storage)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&amp; Manila — Object Storage + Shared File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8 — OpenStack Storage Services (chi tiet)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31920" cy="3218688"/>
          </a:xfrm>
          <a:prstGeom prst="roundRect">
            <a:avLst>
              <a:gd name="adj" fmla="val 2273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152144"/>
            <a:ext cx="1097280" cy="320040"/>
          </a:xfrm>
          <a:prstGeom prst="roundRect">
            <a:avLst>
              <a:gd name="adj" fmla="val 3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52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5179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Tuong duong S3 (AWS)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 tru du lieu phi cau truc (anh, video, tai lieu, logs). Flat namespace, HTTP API, unlimited scalability.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31720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36829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he voi RadosGW: Ceph RadosGW ho tro ca Swift API lan S3 API — co the thay the Swift hoan toan trong OpenStack.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90779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anh/video/media, backup &amp; archive, AI/Big Data Data Lake, static website hosting, log storage dai han.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Ceph: RadosGW   |   HTTP clients, unlimited scale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078992"/>
            <a:ext cx="3977640" cy="3218688"/>
          </a:xfrm>
          <a:prstGeom prst="roundRect">
            <a:avLst>
              <a:gd name="adj" fmla="val 2273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152144"/>
            <a:ext cx="1188720" cy="320040"/>
          </a:xfrm>
          <a:prstGeom prst="roundRect">
            <a:avLst>
              <a:gd name="adj" fmla="val 3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1521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517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 Storage — Nhieu VM cung mount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8288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File Systems as a Service — nhieu VM cung mount mot thu muc dong thoi.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KHAC Cinder: Cinder chi 1 VM mount 1 luc.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423160"/>
            <a:ext cx="3566160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4597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CephFS: Manila quan ly multi-tenancy, quota per share, access rules (NFS export, CIFS share).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29992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Workload: Shared home directories, AI/ML (nhieu worker node doc cung dataset), moi truong cong tac.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Ceph: CephFS   |   K8s: ReadWriteMany (nhieu pod dong thoi)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COW, Thin Provisioning &amp; Kubernetes CSI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8 — 2 phút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Copy-on-Write (COW)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 luu 1 base OS image (Ubuntu 22.04, 10GB) tren Ceph.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Nova tao 100 VM instances: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copy image 100 lan (= 1TB)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 100 COW snapshot — moi VM chi ghi diffs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 qua: Boot VM nhanh, tiet kiem storage.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khi VM ghi vao page nao -&gt; Ceph moi copy page do.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77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Provisioning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36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 tao volume 100GB -&gt; Ceph khong ngay lap tuc chiem 100GB. Chi khi data thuc su duoc ghi moi chiem dung luong thuc. Cho phep overprovisioning.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977640" cy="1115568"/>
          </a:xfrm>
          <a:prstGeom prst="roundRect">
            <a:avLst>
              <a:gd name="adj" fmla="val 6557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disk tren Ceph -&gt; live migrate VM sang host khac KHONG can copy disk qua network. Zero downtime.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520440"/>
            <a:ext cx="8321040" cy="0"/>
          </a:xfrm>
          <a:prstGeom prst="line">
            <a:avLst/>
          </a:prstGeom>
          <a:noFill/>
          <a:ln w="9525">
            <a:solidFill>
              <a:srgbClr val="FFC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118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CSI (Container Storage Interface)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4078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 — RBD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3891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provisioner: rbd.csi.ceph.com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cho: VM disk, DB pod, stateful app can exclusive access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4005072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0FBF4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4078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 — CephFS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3891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provisioner: cephfs.csi.ceph.com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 cho: shared ML data, nhieu pods cung load model weights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 9: Bucket Notification -&gt; Kafka -&gt; AI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5.5 phut — 3 diem Extended Research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8321040" cy="621792"/>
          </a:xfrm>
          <a:prstGeom prst="roundRect">
            <a:avLst>
              <a:gd name="adj" fmla="val 11765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3385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H100: 3.35 TB/s   vs   NVMe SSD: ~7 GB/s  -&gt;  Khoang cach 500x  -&gt;  GPU idle waiting for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 toan: Lam the nao TU DONG HOA transitions giua 5 buoc AI pipeline (Raw -&gt; Dataset -&gt; Checkpoint -&gt; Model -&gt; Inference)?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901952"/>
            <a:ext cx="365760" cy="36576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13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42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raw 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286000"/>
            <a:ext cx="18288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5740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51760" y="1901952"/>
            <a:ext cx="365760" cy="36576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2313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RadosGW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2542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11880" y="2286000"/>
            <a:ext cx="18288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90195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313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0" y="2542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ai-pipeline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49240" y="2286000"/>
            <a:ext cx="18288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901952"/>
            <a:ext cx="365760" cy="3657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313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77840" y="2542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 / UC2 / UC3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086600" y="2286000"/>
            <a:ext cx="18288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69480" y="18288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63840" y="190195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23134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Jobs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0" y="25420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Preprocess/Deploy/Learn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28529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Notification: khi PUT object -&gt; tu dong gui event den Kafka  |  ack-level=broker: Ceph chi ACK khi Kafka da persist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324612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4360" y="3310128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310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70432" y="33284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Trigger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4360" y="370332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-&gt; Kafka event -&gt; K8s Job: normalize, encode, convert Parquet -&gt; s3://processed/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cung input = cung output, chay 2 lan khong loi.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10712" y="3310128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0712" y="3310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986784" y="33284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Model Deploy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410712" y="370332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upload -&gt; validation: accuracy moi &gt; cu AND latency p95 &lt; 200ms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-&gt; canary 10% -&gt; 50% -&gt; 100% (KServe). Fail -&gt; giu model cu.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44184" y="3246120"/>
            <a:ext cx="26334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27064" y="3310128"/>
            <a:ext cx="502920" cy="347472"/>
          </a:xfrm>
          <a:prstGeom prst="roundRect">
            <a:avLst>
              <a:gd name="adj" fmla="val 3157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27064" y="331012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03136" y="33284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(Nested Learning NeurIPS 2025)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227064" y="3703320"/>
            <a:ext cx="23042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NestedLearningScheduler do cosine similarity -&gt; 3 levels: fast(ms)/medium(env change)/slow(terrain moi) -&gt; Ceph trigger K8s retrain.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UC3: Nested Learning — NeurIPS 2025 (Google Research)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Ali Behrouz et al.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78992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FFF8E6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52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voi Batch Threshold (cu)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Tich luy du 10GB -&gt; trigger retrain. Nhung model 'dung im' trong luc cho — khong hoc tu data moi. UAV can thich nghi trong 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78992"/>
            <a:ext cx="3977640" cy="987552"/>
          </a:xfrm>
          <a:prstGeom prst="roundRect">
            <a:avLst>
              <a:gd name="adj" fmla="val 7407"/>
            </a:avLst>
          </a:prstGeom>
          <a:solidFill>
            <a:srgbClr val="FFEBEE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52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Learning (NeurIPS 2025)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kien truc deep learning = he thong nested optimization problems, moi level co update frequency khac nhau.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Levels cho UAV Navigation: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606040"/>
            <a:ext cx="263347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70048"/>
            <a:ext cx="685800" cy="320040"/>
          </a:xfrm>
          <a:prstGeom prst="roundRect">
            <a:avLst>
              <a:gd name="adj" fmla="val 3428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6700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268833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frame (ms)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0358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obstacles, immediate steering. Chay tren Jetson Nano. KHONG save len Ceph (qua thuong xuyen).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27832" y="2606040"/>
            <a:ext cx="263347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10712" y="2670048"/>
            <a:ext cx="685800" cy="320040"/>
          </a:xfrm>
          <a:prstGeom prst="roundRect">
            <a:avLst>
              <a:gd name="adj" fmla="val 3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26700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9664" y="268833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thay doi dang 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0712" y="30358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vao khu vuc moi. Save checkpoint -&gt; Ceph S3 -&gt; Bucket Notification -&gt; Kafka consumer.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44184" y="2606040"/>
            <a:ext cx="2633472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7064" y="2670048"/>
            <a:ext cx="685800" cy="320040"/>
          </a:xfrm>
          <a:prstGeom prst="roundRect">
            <a:avLst>
              <a:gd name="adj" fmla="val 34286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26700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86016" y="268833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tich luy lon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27064" y="303580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hoan toan moi, seasonal changes. Full retrain. Save -&gt; Ceph -&gt; trigger K8s training Job.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096512"/>
          <a:ext cx="8321040" cy="1219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Threshold (cu)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Learning (moi)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Dung im den khi du 10GB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 lien tuc moi frame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Khong giai quyet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level giu knowledge dai 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Ceph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Luu training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versioning + event 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ref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Khong 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NeurIPS 2025 Google 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D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C62828">
              <a:alpha val="4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E53935">
              <a:alpha val="30000"/>
            </a:srgbClr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Tat — Ceph la gi trong 3 cau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77824"/>
            <a:ext cx="5943600" cy="0"/>
          </a:xfrm>
          <a:prstGeom prst="line">
            <a:avLst/>
          </a:prstGeom>
          <a:noFill/>
          <a:ln w="12700">
            <a:solidFill>
              <a:srgbClr val="EF5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411480" cy="4114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078992"/>
            <a:ext cx="7699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la SDS dung thuat toan CRUSH thay cho metadata server trung tam — client tu tinh vi tri data, khong SPOF, scale tuyen tinh.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2084832"/>
            <a:ext cx="7699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cung cap 3 interfaces tren cung 1 cluster: RBD (block/RWO cho VM+DB), CephFS (file/RWX cho shared workloads), RadosGW (S3 cho data lake + AI pipeline).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411480" cy="41148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3090672"/>
            <a:ext cx="7699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Bucket Notification + Kafka tao event-driven AI pipeline: data upload -&gt; tu dong trigger preprocessing -&gt; model validation -&gt; continuous learning (Nested Learning NeurIPS 2025).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C62828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|  7-8 phut  |  18 cau hoi da chuan bi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411480" y="109728"/>
            <a:ext cx="77724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Research: UAV Nested Learning Pipeline</a:t>
            </a:r>
            <a:endParaRPr lang="vi-VN" sz="1000" dirty="0"/>
          </a:p>
        </p:txBody>
      </p:sp>
      <p:sp>
        <p:nvSpPr>
          <p:cNvPr id="4" name="Sub"/>
          <p:cNvSpPr/>
          <p:nvPr/>
        </p:nvSpPr>
        <p:spPr>
          <a:xfrm>
            <a:off x="411480" y="630000"/>
            <a:ext cx="60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Ceph RadosGW + Kafka trong AI pipeline thực tế</a:t>
            </a:r>
            <a:endParaRPr lang="vi-VN" sz="1000" dirty="0"/>
          </a:p>
        </p:txBody>
      </p:sp>
      <p:sp>
        <p:nvSpPr>
          <p:cNvPr id="5" name="TopRight"/>
          <p:cNvSpPr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— VDT 2026</a:t>
            </a:r>
            <a:endParaRPr lang="vi-VN" sz="1000" dirty="0"/>
          </a:p>
        </p:txBody>
      </p:sp>
      <p:sp>
        <p:nvSpPr>
          <p:cNvPr id="6" name="Card0"/>
          <p:cNvSpPr/>
          <p:nvPr/>
        </p:nvSpPr>
        <p:spPr>
          <a:xfrm>
            <a:off x="411480" y="1097280"/>
            <a:ext cx="2017050" cy="3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CardTitle0"/>
          <p:cNvSpPr/>
          <p:nvPr/>
        </p:nvSpPr>
        <p:spPr>
          <a:xfrm>
            <a:off x="548640" y="1188720"/>
            <a:ext cx="174273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5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/ Edge</a:t>
            </a:r>
            <a:endParaRPr lang="vi-VN" sz="10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 on-device</a:t>
            </a:r>
            <a:endParaRPr lang="vi-VN" sz="1000" dirty="0"/>
          </a:p>
        </p:txBody>
      </p:sp>
      <p:sp>
        <p:nvSpPr>
          <p:cNvPr id="8" name="Sep0"/>
          <p:cNvSpPr/>
          <p:nvPr/>
        </p:nvSpPr>
        <p:spPr>
          <a:xfrm>
            <a:off x="548640" y="1587280"/>
            <a:ext cx="1742730" cy="18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9" name="CardBody0"/>
          <p:cNvSpPr/>
          <p:nvPr/>
        </p:nvSpPr>
        <p:spPr>
          <a:xfrm>
            <a:off x="548640" y="1627280"/>
            <a:ext cx="1742730" cy="3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backbone → 512-d feature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Learning Algorithm: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δ = cosine_dist(vt, vt-1)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drift_acc += δ → classify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skip  fast  medium  slow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Hebbian M matrices: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M_t α=0.90 · M_med 0.95 · M_slow 0.99</a:t>
            </a:r>
            <a:endParaRPr lang="vi-VN" sz="1000" dirty="0"/>
          </a:p>
          <a:p>
            <a:pPr marL="0" indent="0" algn="l">
              <a:buNone/>
              <a:spcBef>
                <a:spcPts val="60"/>
              </a:spcBef>
              <a:spcAft>
                <a:spcPts val="60"/>
              </a:spcAft>
            </a:pPr>
            <a:r>
              <a:rPr lang="vi-VN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medium/slow → publish Kafka event</a:t>
            </a:r>
            <a:endParaRPr lang="vi-VN" sz="1000" dirty="0"/>
          </a:p>
        </p:txBody>
      </p:sp>
      <p:sp>
        <p:nvSpPr>
          <p:cNvPr id="10" name="Card1"/>
          <p:cNvSpPr/>
          <p:nvPr/>
        </p:nvSpPr>
        <p:spPr>
          <a:xfrm>
            <a:off x="2558530" y="1097280"/>
            <a:ext cx="2017050" cy="3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CardTitle1"/>
          <p:cNvSpPr/>
          <p:nvPr/>
        </p:nvSpPr>
        <p:spPr>
          <a:xfrm>
            <a:off x="2695690" y="1188720"/>
            <a:ext cx="174273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5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vi-VN" sz="10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 · Message bus</a:t>
            </a:r>
            <a:endParaRPr lang="vi-VN" sz="1000" dirty="0"/>
          </a:p>
        </p:txBody>
      </p:sp>
      <p:sp>
        <p:nvSpPr>
          <p:cNvPr id="12" name="Sep1"/>
          <p:cNvSpPr/>
          <p:nvPr/>
        </p:nvSpPr>
        <p:spPr>
          <a:xfrm>
            <a:off x="2695690" y="1587280"/>
            <a:ext cx="1742730" cy="18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3" name="CardBody1"/>
          <p:cNvSpPr/>
          <p:nvPr/>
        </p:nvSpPr>
        <p:spPr>
          <a:xfrm>
            <a:off x="2695690" y="1627280"/>
            <a:ext cx="1742730" cy="3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80"/>
              </a:spcBef>
            </a:pPr>
            <a:r>
              <a:rPr lang="vi-VN" sz="10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retrain-events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{level, terrain, frame_id}</a:t>
            </a:r>
            <a:endParaRPr lang="vi-VN" sz="1000" dirty="0"/>
          </a:p>
          <a:p>
            <a:pPr marL="0" indent="0" algn="l">
              <a:buNone/>
              <a:spcBef>
                <a:spcPts val="60"/>
              </a:spcBef>
              <a:spcAft>
                <a:spcPts val="60"/>
              </a:spcAft>
            </a:pPr>
            <a:r>
              <a:rPr lang="vi-VN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Fire-and-forget — async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Persistent log — 7 ngày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At-least-once delivery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UAV không bị block</a:t>
            </a:r>
            <a:endParaRPr lang="vi-VN" sz="1000" dirty="0"/>
          </a:p>
          <a:p>
            <a:pPr marL="0" indent="0" algn="l">
              <a:buNone/>
              <a:spcBef>
                <a:spcPts val="60"/>
              </a:spcBef>
              <a:spcAft>
                <a:spcPts val="60"/>
              </a:spcAft>
            </a:pPr>
            <a:r>
              <a:rPr lang="vi-VN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Decoupling: Edge ↔ Cloud</a:t>
            </a:r>
            <a:endParaRPr lang="vi-VN" sz="1000" dirty="0"/>
          </a:p>
        </p:txBody>
      </p:sp>
      <p:sp>
        <p:nvSpPr>
          <p:cNvPr id="14" name="Card2"/>
          <p:cNvSpPr/>
          <p:nvPr/>
        </p:nvSpPr>
        <p:spPr>
          <a:xfrm>
            <a:off x="4705580" y="1097280"/>
            <a:ext cx="2017050" cy="3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CardTitle2"/>
          <p:cNvSpPr/>
          <p:nvPr/>
        </p:nvSpPr>
        <p:spPr>
          <a:xfrm>
            <a:off x="4842740" y="1188720"/>
            <a:ext cx="174273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5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PyTorch</a:t>
            </a:r>
            <a:endParaRPr lang="vi-VN" sz="10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· GPU training</a:t>
            </a:r>
            <a:endParaRPr lang="vi-VN" sz="1000" dirty="0"/>
          </a:p>
        </p:txBody>
      </p:sp>
      <p:sp>
        <p:nvSpPr>
          <p:cNvPr id="16" name="Sep2"/>
          <p:cNvSpPr/>
          <p:nvPr/>
        </p:nvSpPr>
        <p:spPr>
          <a:xfrm>
            <a:off x="4842740" y="1587280"/>
            <a:ext cx="1742730" cy="18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7" name="CardBody2"/>
          <p:cNvSpPr/>
          <p:nvPr/>
        </p:nvSpPr>
        <p:spPr>
          <a:xfrm>
            <a:off x="4842740" y="1627280"/>
            <a:ext cx="1742730" cy="3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poll → spawn Job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Job: one-shot Pod</a:t>
            </a:r>
            <a:endParaRPr lang="vi-VN" sz="1000" dirty="0"/>
          </a:p>
          <a:p>
            <a:pPr marL="0" indent="0" algn="l">
              <a:buNone/>
              <a:spcBef>
                <a:spcPts val="60"/>
              </a:spcBef>
              <a:spcAft>
                <a:spcPts val="60"/>
              </a:spcAft>
            </a:pPr>
            <a:r>
              <a:rPr lang="vi-VN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NLResNet forward pass: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combined = M×v + v → FC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M buffers — not backpropped</a:t>
            </a:r>
            <a:endParaRPr lang="vi-VN" sz="1000" dirty="0"/>
          </a:p>
          <a:p>
            <a:pPr marL="0" indent="0" algn="l">
              <a:buNone/>
              <a:spcBef>
                <a:spcPts val="60"/>
              </a:spcBef>
              <a:spcAft>
                <a:spcPts val="60"/>
              </a:spcAft>
            </a:pPr>
            <a:r>
              <a:rPr lang="vi-VN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fine-tune FC only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slow: full backbone retrain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log + register MLflow</a:t>
            </a:r>
            <a:endParaRPr lang="vi-VN" sz="1000" dirty="0"/>
          </a:p>
        </p:txBody>
      </p:sp>
      <p:sp>
        <p:nvSpPr>
          <p:cNvPr id="18" name="Card3"/>
          <p:cNvSpPr/>
          <p:nvPr/>
        </p:nvSpPr>
        <p:spPr>
          <a:xfrm>
            <a:off x="6852630" y="1097280"/>
            <a:ext cx="2017050" cy="37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101600" dist="381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CardTitle3"/>
          <p:cNvSpPr/>
          <p:nvPr/>
        </p:nvSpPr>
        <p:spPr>
          <a:xfrm>
            <a:off x="6989790" y="1188720"/>
            <a:ext cx="174273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5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+ MLflow</a:t>
            </a:r>
            <a:endParaRPr lang="vi-VN" sz="10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backbone · Model registry</a:t>
            </a:r>
            <a:endParaRPr lang="vi-VN" sz="1000" dirty="0"/>
          </a:p>
        </p:txBody>
      </p:sp>
      <p:sp>
        <p:nvSpPr>
          <p:cNvPr id="20" name="Sep3"/>
          <p:cNvSpPr/>
          <p:nvPr/>
        </p:nvSpPr>
        <p:spPr>
          <a:xfrm>
            <a:off x="6989790" y="1587280"/>
            <a:ext cx="1742730" cy="18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1" name="CardBody3"/>
          <p:cNvSpPr/>
          <p:nvPr/>
        </p:nvSpPr>
        <p:spPr>
          <a:xfrm>
            <a:off x="6989790" y="1627280"/>
            <a:ext cx="1742730" cy="31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80"/>
              </a:spcBef>
            </a:pPr>
            <a:r>
              <a:rPr lang="vi-VN" sz="10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RadosGW (S3-compatible)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checkpoints/  — trigger metadata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training-data/  — frames JPEG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fast-weight-state/  — M matrices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mlflow-artifacts/  — weights</a:t>
            </a:r>
            <a:endParaRPr lang="vi-VN" sz="1000" dirty="0"/>
          </a:p>
          <a:p>
            <a:pPr marL="0" indent="0" algn="l">
              <a:buNone/>
              <a:spcBef>
                <a:spcPts val="60"/>
              </a:spcBef>
              <a:spcAft>
                <a:spcPts val="60"/>
              </a:spcAft>
            </a:pPr>
            <a:r>
              <a:rPr lang="vi-VN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 + Registry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uav-navigator-{terrain}</a:t>
            </a:r>
            <a:endParaRPr lang="vi-VN" sz="1000" dirty="0"/>
          </a:p>
          <a:p>
            <a:pPr marL="0" indent="0" algn="l">
              <a:buNone/>
              <a:spcBef>
                <a:spcPts val="8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params · version · stage</a:t>
            </a:r>
            <a:endParaRPr lang="vi-VN" sz="1000" dirty="0"/>
          </a:p>
        </p:txBody>
      </p:sp>
      <p:sp>
        <p:nvSpPr>
          <p:cNvPr id="22" name="BotBar"/>
          <p:cNvSpPr/>
          <p:nvPr/>
        </p:nvSpPr>
        <p:spPr>
          <a:xfrm>
            <a:off x="411480" y="4902280"/>
            <a:ext cx="8321040" cy="214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3" name="BotTxt"/>
          <p:cNvSpPr/>
          <p:nvPr/>
        </p:nvSpPr>
        <p:spPr>
          <a:xfrm>
            <a:off x="411480" y="4902280"/>
            <a:ext cx="8321040" cy="21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RadosGW là storage backbone  ·  Kafka là event bus  ·  K8s cho GPU scheduling  ·  MLflow cho model governance</a:t>
            </a:r>
            <a:endParaRPr lang="vi-VN" sz="1000" dirty="0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4343</TotalTime>
  <Words>4894</Words>
  <Application>Microsoft Macintosh PowerPoint</Application>
  <PresentationFormat>On-screen Show (16:9)</PresentationFormat>
  <Paragraphs>684</Paragraphs>
  <Slides>27</Slides>
  <Notes>27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Ceph Storage - VDT 2026</dc:title>
  <dc:subject>PptxGenJS Presentation</dc:subject>
  <dc:creator>VDT 2026</dc:creator>
  <cp:lastModifiedBy>Microsoft Office User</cp:lastModifiedBy>
  <cp:revision>4</cp:revision>
  <dcterms:created xsi:type="dcterms:W3CDTF">2026-06-24T07:22:50Z</dcterms:created>
  <dcterms:modified xsi:type="dcterms:W3CDTF">2026-06-27T11:31:02Z</dcterms:modified>
</cp:coreProperties>
</file>