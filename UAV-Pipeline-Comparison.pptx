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custom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"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1"/>
          <p:cNvSpPr/>
          <p:nvPr/>
        </p:nvSpPr>
        <p:spPr>
          <a:xfrm>
            <a:off x="5943600" y="-1371600"/>
            <a:ext cx="5943600" cy="5943600"/>
          </a:xfrm>
          <a:prstGeom prst="rect">
            <a:avLst/>
          </a:prstGeom>
          <a:solidFill>
            <a:srgbClr val="C62828">
              <a:alpha val="40000"/>
            </a:srgbClr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3" name="C2"/>
          <p:cNvSpPr/>
          <p:nvPr/>
        </p:nvSpPr>
        <p:spPr>
          <a:xfrm>
            <a:off x="6858000" y="457200"/>
            <a:ext cx="3657600" cy="3657600"/>
          </a:xfrm>
          <a:prstGeom prst="rect">
            <a:avLst/>
          </a:prstGeom>
          <a:solidFill>
            <a:srgbClr val="E53935">
              <a:alpha val="30000"/>
            </a:srgbClr>
          </a:solidFill>
          <a:ln w="9525">
            <a:solidFill>
              <a:srgbClr val="E53935"/>
            </a:solidFill>
            <a:prstDash val="solid"/>
          </a:ln>
        </p:spPr>
      </p:sp>
      <p:sp>
        <p:nvSpPr>
          <p:cNvPr id="4" name="TL"/>
          <p:cNvSpPr txSpPr="1"/>
          <p:nvPr/>
        </p:nvSpPr>
        <p:spPr>
          <a:xfrm>
            <a:off x="548640" y="1050000"/>
            <a:ext cx="64008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Aft>
                <a:spcPts val="60"/>
              </a:spcAft>
            </a:pPr>
            <a:r>
              <a:rPr lang="vi-VN" sz="4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NESTED LEARNING</a:t>
            </a:r>
            <a:endParaRPr lang="vi-VN" sz="900" dirty="0"/>
          </a:p>
          <a:p>
            <a:pPr marL="0" indent="0" algn="l">
              <a:buNone/>
            </a:pPr>
            <a:r>
              <a:rPr lang="vi-VN" sz="4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vi-VN" sz="900" dirty="0"/>
          </a:p>
        </p:txBody>
      </p:sp>
      <p:sp>
        <p:nvSpPr>
          <p:cNvPr id="5" name="TS"/>
          <p:cNvSpPr txSpPr="1"/>
          <p:nvPr/>
        </p:nvSpPr>
        <p:spPr>
          <a:xfrm>
            <a:off x="548640" y="2080000"/>
            <a:ext cx="64008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6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thong AI thich nghi dia hinh · Tu huan luyen theo thoi gian thuc</a:t>
            </a:r>
            <a:endParaRPr lang="vi-VN" sz="900" dirty="0"/>
          </a:p>
        </p:txBody>
      </p:sp>
      <p:sp>
        <p:nvSpPr>
          <p:cNvPr id="6" name="Ln"/>
          <p:cNvSpPr/>
          <p:nvPr/>
        </p:nvSpPr>
        <p:spPr>
          <a:xfrm>
            <a:off x="548640" y="2580000"/>
            <a:ext cx="4572000" cy="90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7" name="D1"/>
          <p:cNvSpPr txSpPr="1"/>
          <p:nvPr/>
        </p:nvSpPr>
        <p:spPr>
          <a:xfrm>
            <a:off x="548640" y="2650000"/>
            <a:ext cx="64008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2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2026  ·  Extended Research  ·  Nested Learning (NeurIPS 2025)</a:t>
            </a:r>
            <a:endParaRPr lang="vi-VN" sz="900" dirty="0"/>
          </a:p>
        </p:txBody>
      </p:sp>
      <p:sp>
        <p:nvSpPr>
          <p:cNvPr id="8" name="D2"/>
          <p:cNvSpPr txSpPr="1"/>
          <p:nvPr/>
        </p:nvSpPr>
        <p:spPr>
          <a:xfrm>
            <a:off x="548640" y="2960000"/>
            <a:ext cx="64008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2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PyTorch  ·  Apache Kafka  ·  Kubernetes  ·  Ceph RadosGW  ·  MLflow</a:t>
            </a:r>
            <a:endParaRPr lang="vi-VN" sz="900" dirty="0"/>
          </a:p>
        </p:txBody>
      </p:sp>
      <p:sp>
        <p:nvSpPr>
          <p:cNvPr id="9" name="D3"/>
          <p:cNvSpPr txSpPr="1"/>
          <p:nvPr/>
        </p:nvSpPr>
        <p:spPr>
          <a:xfrm>
            <a:off x="548640" y="3270000"/>
            <a:ext cx="64008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2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Thuat toan: Hebbian M matrices · 3 toc do ky uc · per-terrain isolation</a:t>
            </a:r>
            <a:endParaRPr lang="vi-VN" sz="900" dirty="0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9525">
            <a:solidFill>
              <a:srgbClr val="B71C1C"/>
            </a:solidFill>
            <a:prstDash val="solid"/>
          </a:ln>
        </p:spPr>
      </p:sp>
      <p:sp>
        <p:nvSpPr>
          <p:cNvPr id="3" name="HTitle"/>
          <p:cNvSpPr txSpPr="1"/>
          <p:nvPr/>
        </p:nvSpPr>
        <p:spPr>
          <a:xfrm>
            <a:off x="411480" y="109728"/>
            <a:ext cx="77724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2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 dung Trinh bay</a:t>
            </a:r>
            <a:endParaRPr lang="vi-VN" sz="900" dirty="0"/>
          </a:p>
        </p:txBody>
      </p:sp>
      <p:sp>
        <p:nvSpPr>
          <p:cNvPr id="4" name="HRight"/>
          <p:cNvSpPr txSpPr="1"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Pipeline · VDT 2026</a:t>
            </a:r>
            <a:endParaRPr lang="vi-VN" sz="900" dirty="0"/>
          </a:p>
        </p:txBody>
      </p:sp>
      <p:sp>
        <p:nvSpPr>
          <p:cNvPr id="5" name="RB0"/>
          <p:cNvSpPr/>
          <p:nvPr/>
        </p:nvSpPr>
        <p:spPr>
          <a:xfrm>
            <a:off x="411480" y="1020000"/>
            <a:ext cx="8321040" cy="480000"/>
          </a:xfrm>
          <a:prstGeom prst="rect">
            <a:avLst/>
          </a:prstGeom>
          <a:solidFill>
            <a:srgbClr val="FFF5F5"/>
          </a:solidFill>
          <a:ln w="9525">
            <a:solidFill>
              <a:srgbClr val="FFCDD2"/>
            </a:solidFill>
            <a:prstDash val="solid"/>
          </a:ln>
        </p:spPr>
      </p:sp>
      <p:sp>
        <p:nvSpPr>
          <p:cNvPr id="6" name="RN0"/>
          <p:cNvSpPr/>
          <p:nvPr/>
        </p:nvSpPr>
        <p:spPr>
          <a:xfrm>
            <a:off x="411480" y="1020000"/>
            <a:ext cx="500000" cy="4800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7" name="NT0"/>
          <p:cNvSpPr txSpPr="1"/>
          <p:nvPr/>
        </p:nvSpPr>
        <p:spPr>
          <a:xfrm>
            <a:off x="411480" y="1020000"/>
            <a:ext cx="5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vi-VN" sz="900" dirty="0"/>
          </a:p>
        </p:txBody>
      </p:sp>
      <p:sp>
        <p:nvSpPr>
          <p:cNvPr id="8" name="TT0"/>
          <p:cNvSpPr txSpPr="1"/>
          <p:nvPr/>
        </p:nvSpPr>
        <p:spPr>
          <a:xfrm>
            <a:off x="940000" y="1070000"/>
            <a:ext cx="650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2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&amp; Giai phap</a:t>
            </a:r>
            <a:endParaRPr lang="vi-VN" sz="900" dirty="0"/>
          </a:p>
        </p:txBody>
      </p:sp>
      <p:sp>
        <p:nvSpPr>
          <p:cNvPr id="9" name="DS0"/>
          <p:cNvSpPr txSpPr="1"/>
          <p:nvPr/>
        </p:nvSpPr>
        <p:spPr>
          <a:xfrm>
            <a:off x="940000" y="1300000"/>
            <a:ext cx="65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 sao can AI thich nghi tren UAV?</a:t>
            </a:r>
            <a:endParaRPr lang="vi-VN" sz="900" dirty="0"/>
          </a:p>
        </p:txBody>
      </p:sp>
      <p:sp>
        <p:nvSpPr>
          <p:cNvPr id="10" name="RB1"/>
          <p:cNvSpPr/>
          <p:nvPr/>
        </p:nvSpPr>
        <p:spPr>
          <a:xfrm>
            <a:off x="411480" y="1515000"/>
            <a:ext cx="8321040" cy="4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</p:spPr>
      </p:sp>
      <p:sp>
        <p:nvSpPr>
          <p:cNvPr id="11" name="RN1"/>
          <p:cNvSpPr/>
          <p:nvPr/>
        </p:nvSpPr>
        <p:spPr>
          <a:xfrm>
            <a:off x="411480" y="1515000"/>
            <a:ext cx="500000" cy="4800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2" name="NT1"/>
          <p:cNvSpPr txSpPr="1"/>
          <p:nvPr/>
        </p:nvSpPr>
        <p:spPr>
          <a:xfrm>
            <a:off x="411480" y="1515000"/>
            <a:ext cx="5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vi-VN" sz="900" dirty="0"/>
          </a:p>
        </p:txBody>
      </p:sp>
      <p:sp>
        <p:nvSpPr>
          <p:cNvPr id="13" name="TT1"/>
          <p:cNvSpPr txSpPr="1"/>
          <p:nvPr/>
        </p:nvSpPr>
        <p:spPr>
          <a:xfrm>
            <a:off x="940000" y="1565000"/>
            <a:ext cx="650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2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Thuat toan Nested Learning</a:t>
            </a:r>
            <a:endParaRPr lang="vi-VN" sz="900" dirty="0"/>
          </a:p>
        </p:txBody>
      </p:sp>
      <p:sp>
        <p:nvSpPr>
          <p:cNvPr id="14" name="DS1"/>
          <p:cNvSpPr txSpPr="1"/>
          <p:nvPr/>
        </p:nvSpPr>
        <p:spPr>
          <a:xfrm>
            <a:off x="940000" y="1795000"/>
            <a:ext cx="65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 — Hebbian update · delta levels · M matrices</a:t>
            </a:r>
            <a:endParaRPr lang="vi-VN" sz="900" dirty="0"/>
          </a:p>
        </p:txBody>
      </p:sp>
      <p:sp>
        <p:nvSpPr>
          <p:cNvPr id="15" name="RB2"/>
          <p:cNvSpPr/>
          <p:nvPr/>
        </p:nvSpPr>
        <p:spPr>
          <a:xfrm>
            <a:off x="411480" y="2010000"/>
            <a:ext cx="8321040" cy="480000"/>
          </a:xfrm>
          <a:prstGeom prst="rect">
            <a:avLst/>
          </a:prstGeom>
          <a:solidFill>
            <a:srgbClr val="FFF5F5"/>
          </a:solidFill>
          <a:ln w="9525">
            <a:solidFill>
              <a:srgbClr val="FFCDD2"/>
            </a:solidFill>
            <a:prstDash val="solid"/>
          </a:ln>
        </p:spPr>
      </p:sp>
      <p:sp>
        <p:nvSpPr>
          <p:cNvPr id="16" name="RN2"/>
          <p:cNvSpPr/>
          <p:nvPr/>
        </p:nvSpPr>
        <p:spPr>
          <a:xfrm>
            <a:off x="411480" y="2010000"/>
            <a:ext cx="500000" cy="4800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7" name="NT2"/>
          <p:cNvSpPr txSpPr="1"/>
          <p:nvPr/>
        </p:nvSpPr>
        <p:spPr>
          <a:xfrm>
            <a:off x="411480" y="2010000"/>
            <a:ext cx="5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vi-VN" sz="900" dirty="0"/>
          </a:p>
        </p:txBody>
      </p:sp>
      <p:sp>
        <p:nvSpPr>
          <p:cNvPr id="18" name="TT2"/>
          <p:cNvSpPr txSpPr="1"/>
          <p:nvPr/>
        </p:nvSpPr>
        <p:spPr>
          <a:xfrm>
            <a:off x="940000" y="2060000"/>
            <a:ext cx="650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2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Kien truc He thong</a:t>
            </a:r>
            <a:endParaRPr lang="vi-VN" sz="900" dirty="0"/>
          </a:p>
        </p:txBody>
      </p:sp>
      <p:sp>
        <p:nvSpPr>
          <p:cNvPr id="19" name="DS2"/>
          <p:cNvSpPr txSpPr="1"/>
          <p:nvPr/>
        </p:nvSpPr>
        <p:spPr>
          <a:xfrm>
            <a:off x="940000" y="2290000"/>
            <a:ext cx="65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Edge → Kafka → K8s Training → Ceph + MLflow</a:t>
            </a:r>
            <a:endParaRPr lang="vi-VN" sz="900" dirty="0"/>
          </a:p>
        </p:txBody>
      </p:sp>
      <p:sp>
        <p:nvSpPr>
          <p:cNvPr id="20" name="RB3"/>
          <p:cNvSpPr/>
          <p:nvPr/>
        </p:nvSpPr>
        <p:spPr>
          <a:xfrm>
            <a:off x="411480" y="2505000"/>
            <a:ext cx="8321040" cy="4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</p:spPr>
      </p:sp>
      <p:sp>
        <p:nvSpPr>
          <p:cNvPr id="21" name="RN3"/>
          <p:cNvSpPr/>
          <p:nvPr/>
        </p:nvSpPr>
        <p:spPr>
          <a:xfrm>
            <a:off x="411480" y="2505000"/>
            <a:ext cx="500000" cy="4800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2" name="NT3"/>
          <p:cNvSpPr txSpPr="1"/>
          <p:nvPr/>
        </p:nvSpPr>
        <p:spPr>
          <a:xfrm>
            <a:off x="411480" y="2505000"/>
            <a:ext cx="5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vi-VN" sz="900" dirty="0"/>
          </a:p>
        </p:txBody>
      </p:sp>
      <p:sp>
        <p:nvSpPr>
          <p:cNvPr id="23" name="TT3"/>
          <p:cNvSpPr txSpPr="1"/>
          <p:nvPr/>
        </p:nvSpPr>
        <p:spPr>
          <a:xfrm>
            <a:off x="940000" y="2555000"/>
            <a:ext cx="650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2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Walkthrough</a:t>
            </a:r>
            <a:endParaRPr lang="vi-VN" sz="900" dirty="0"/>
          </a:p>
        </p:txBody>
      </p:sp>
      <p:sp>
        <p:nvSpPr>
          <p:cNvPr id="24" name="DS3"/>
          <p:cNvSpPr txSpPr="1"/>
          <p:nvPr/>
        </p:nvSpPr>
        <p:spPr>
          <a:xfrm>
            <a:off x="940000" y="2785000"/>
            <a:ext cx="65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module chinh va cach ket noi</a:t>
            </a:r>
            <a:endParaRPr lang="vi-VN" sz="900" dirty="0"/>
          </a:p>
        </p:txBody>
      </p:sp>
      <p:sp>
        <p:nvSpPr>
          <p:cNvPr id="25" name="RB4"/>
          <p:cNvSpPr/>
          <p:nvPr/>
        </p:nvSpPr>
        <p:spPr>
          <a:xfrm>
            <a:off x="411480" y="3000000"/>
            <a:ext cx="8321040" cy="480000"/>
          </a:xfrm>
          <a:prstGeom prst="rect">
            <a:avLst/>
          </a:prstGeom>
          <a:solidFill>
            <a:srgbClr val="FFF5F5"/>
          </a:solidFill>
          <a:ln w="9525">
            <a:solidFill>
              <a:srgbClr val="FFCDD2"/>
            </a:solidFill>
            <a:prstDash val="solid"/>
          </a:ln>
        </p:spPr>
      </p:sp>
      <p:sp>
        <p:nvSpPr>
          <p:cNvPr id="26" name="RN4"/>
          <p:cNvSpPr/>
          <p:nvPr/>
        </p:nvSpPr>
        <p:spPr>
          <a:xfrm>
            <a:off x="411480" y="3000000"/>
            <a:ext cx="500000" cy="4800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7" name="NT4"/>
          <p:cNvSpPr txSpPr="1"/>
          <p:nvPr/>
        </p:nvSpPr>
        <p:spPr>
          <a:xfrm>
            <a:off x="411480" y="3000000"/>
            <a:ext cx="5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vi-VN" sz="900" dirty="0"/>
          </a:p>
        </p:txBody>
      </p:sp>
      <p:sp>
        <p:nvSpPr>
          <p:cNvPr id="28" name="TT4"/>
          <p:cNvSpPr txSpPr="1"/>
          <p:nvPr/>
        </p:nvSpPr>
        <p:spPr>
          <a:xfrm>
            <a:off x="940000" y="3050000"/>
            <a:ext cx="650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2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Luong hoat dong</a:t>
            </a:r>
            <a:endParaRPr lang="vi-VN" sz="900" dirty="0"/>
          </a:p>
        </p:txBody>
      </p:sp>
      <p:sp>
        <p:nvSpPr>
          <p:cNvPr id="29" name="DS4"/>
          <p:cNvSpPr txSpPr="1"/>
          <p:nvPr/>
        </p:nvSpPr>
        <p:spPr>
          <a:xfrm>
            <a:off x="940000" y="3280000"/>
            <a:ext cx="65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flow · Training flow · Startup flow</a:t>
            </a:r>
            <a:endParaRPr lang="vi-VN" sz="900" dirty="0"/>
          </a:p>
        </p:txBody>
      </p:sp>
      <p:sp>
        <p:nvSpPr>
          <p:cNvPr id="30" name="RB5"/>
          <p:cNvSpPr/>
          <p:nvPr/>
        </p:nvSpPr>
        <p:spPr>
          <a:xfrm>
            <a:off x="411480" y="3495000"/>
            <a:ext cx="8321040" cy="4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</p:spPr>
      </p:sp>
      <p:sp>
        <p:nvSpPr>
          <p:cNvPr id="31" name="RN5"/>
          <p:cNvSpPr/>
          <p:nvPr/>
        </p:nvSpPr>
        <p:spPr>
          <a:xfrm>
            <a:off x="411480" y="3495000"/>
            <a:ext cx="500000" cy="4800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2" name="NT5"/>
          <p:cNvSpPr txSpPr="1"/>
          <p:nvPr/>
        </p:nvSpPr>
        <p:spPr>
          <a:xfrm>
            <a:off x="411480" y="3495000"/>
            <a:ext cx="5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vi-VN" sz="900" dirty="0"/>
          </a:p>
        </p:txBody>
      </p:sp>
      <p:sp>
        <p:nvSpPr>
          <p:cNvPr id="33" name="TT5"/>
          <p:cNvSpPr txSpPr="1"/>
          <p:nvPr/>
        </p:nvSpPr>
        <p:spPr>
          <a:xfrm>
            <a:off x="940000" y="3545000"/>
            <a:ext cx="650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2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diem &amp; Thiet ke</a:t>
            </a:r>
            <a:endParaRPr lang="vi-VN" sz="900" dirty="0"/>
          </a:p>
        </p:txBody>
      </p:sp>
      <p:sp>
        <p:nvSpPr>
          <p:cNvPr id="34" name="DS5"/>
          <p:cNvSpPr txSpPr="1"/>
          <p:nvPr/>
        </p:nvSpPr>
        <p:spPr>
          <a:xfrm>
            <a:off x="940000" y="3775000"/>
            <a:ext cx="65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· Per-terrain · Observable · Extensible</a:t>
            </a:r>
            <a:endParaRPr lang="vi-VN" sz="900" dirty="0"/>
          </a:p>
        </p:txBody>
      </p:sp>
      <p:sp>
        <p:nvSpPr>
          <p:cNvPr id="35" name="RB6"/>
          <p:cNvSpPr/>
          <p:nvPr/>
        </p:nvSpPr>
        <p:spPr>
          <a:xfrm>
            <a:off x="411480" y="3990000"/>
            <a:ext cx="8321040" cy="480000"/>
          </a:xfrm>
          <a:prstGeom prst="rect">
            <a:avLst/>
          </a:prstGeom>
          <a:solidFill>
            <a:srgbClr val="FFF5F5"/>
          </a:solidFill>
          <a:ln w="9525">
            <a:solidFill>
              <a:srgbClr val="FFCDD2"/>
            </a:solidFill>
            <a:prstDash val="solid"/>
          </a:ln>
        </p:spPr>
      </p:sp>
      <p:sp>
        <p:nvSpPr>
          <p:cNvPr id="36" name="RN6"/>
          <p:cNvSpPr/>
          <p:nvPr/>
        </p:nvSpPr>
        <p:spPr>
          <a:xfrm>
            <a:off x="411480" y="3990000"/>
            <a:ext cx="500000" cy="48000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37" name="NT6"/>
          <p:cNvSpPr txSpPr="1"/>
          <p:nvPr/>
        </p:nvSpPr>
        <p:spPr>
          <a:xfrm>
            <a:off x="411480" y="3990000"/>
            <a:ext cx="50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vi-VN" sz="900" dirty="0"/>
          </a:p>
        </p:txBody>
      </p:sp>
      <p:sp>
        <p:nvSpPr>
          <p:cNvPr id="38" name="TT6"/>
          <p:cNvSpPr txSpPr="1"/>
          <p:nvPr/>
        </p:nvSpPr>
        <p:spPr>
          <a:xfrm>
            <a:off x="940000" y="4040000"/>
            <a:ext cx="6500000" cy="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2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Tom tat</a:t>
            </a:r>
            <a:endParaRPr lang="vi-VN" sz="900" dirty="0"/>
          </a:p>
        </p:txBody>
      </p:sp>
      <p:sp>
        <p:nvSpPr>
          <p:cNvPr id="39" name="DS6"/>
          <p:cNvSpPr txSpPr="1"/>
          <p:nvPr/>
        </p:nvSpPr>
        <p:spPr>
          <a:xfrm>
            <a:off x="940000" y="4270000"/>
            <a:ext cx="650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Chay demo thuc te + Q&amp;A</a:t>
            </a:r>
            <a:endParaRPr lang="vi-VN" sz="900" dirty="0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9525">
            <a:solidFill>
              <a:srgbClr val="B71C1C"/>
            </a:solidFill>
            <a:prstDash val="solid"/>
          </a:ln>
        </p:spPr>
      </p:sp>
      <p:sp>
        <p:nvSpPr>
          <p:cNvPr id="3" name="HTitle"/>
          <p:cNvSpPr txSpPr="1"/>
          <p:nvPr/>
        </p:nvSpPr>
        <p:spPr>
          <a:xfrm>
            <a:off x="411480" y="109728"/>
            <a:ext cx="77724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2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 &amp; Giai phap</a:t>
            </a:r>
            <a:endParaRPr lang="vi-VN" sz="900" dirty="0"/>
          </a:p>
        </p:txBody>
      </p:sp>
      <p:sp>
        <p:nvSpPr>
          <p:cNvPr id="4" name="HRight"/>
          <p:cNvSpPr txSpPr="1"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Pipeline · VDT 2026</a:t>
            </a:r>
            <a:endParaRPr lang="vi-VN" sz="900" dirty="0"/>
          </a:p>
        </p:txBody>
      </p:sp>
      <p:sp>
        <p:nvSpPr>
          <p:cNvPr id="5" name="HSub"/>
          <p:cNvSpPr txSpPr="1"/>
          <p:nvPr/>
        </p:nvSpPr>
        <p:spPr>
          <a:xfrm>
            <a:off x="411480" y="690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 sao can he thong AI thich nghi tren UAV?</a:t>
            </a:r>
            <a:endParaRPr lang="vi-VN" sz="900" dirty="0"/>
          </a:p>
        </p:txBody>
      </p:sp>
      <p:sp>
        <p:nvSpPr>
          <p:cNvPr id="6" name="Q"/>
          <p:cNvSpPr/>
          <p:nvPr/>
        </p:nvSpPr>
        <p:spPr>
          <a:xfrm>
            <a:off x="411480" y="1070000"/>
            <a:ext cx="8321040" cy="900000"/>
          </a:xfrm>
          <a:prstGeom prst="rect">
            <a:avLst/>
          </a:prstGeom>
          <a:solidFill>
            <a:srgbClr val="B71C1C"/>
          </a:solidFill>
          <a:ln w="9525">
            <a:solidFill>
              <a:srgbClr val="B71C1C"/>
            </a:solidFill>
            <a:prstDash val="solid"/>
          </a:ln>
        </p:spPr>
      </p:sp>
      <p:sp>
        <p:nvSpPr>
          <p:cNvPr id="7" name="QT"/>
          <p:cNvSpPr txSpPr="1"/>
          <p:nvPr/>
        </p:nvSpPr>
        <p:spPr>
          <a:xfrm>
            <a:off x="548640" y="1100000"/>
            <a:ext cx="8050000" cy="8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22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"Model tinh khong the hoat dong tot tren moi dia hinh"</a:t>
            </a:r>
            <a:endParaRPr lang="vi-VN" sz="900" dirty="0"/>
          </a:p>
          <a:p>
            <a:pPr marL="0" indent="0" algn="ctr">
              <a:buNone/>
            </a:pPr>
            <a:r>
              <a:rPr lang="vi-VN" sz="12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bay qua mountain → forest → coastal → desert → urban: moi noi khac nhau hoan toan</a:t>
            </a:r>
            <a:endParaRPr lang="vi-VN" sz="900" dirty="0"/>
          </a:p>
        </p:txBody>
      </p:sp>
      <p:sp>
        <p:nvSpPr>
          <p:cNvPr id="8" name="CB8"/>
          <p:cNvSpPr/>
          <p:nvPr/>
        </p:nvSpPr>
        <p:spPr>
          <a:xfrm>
            <a:off x="411480" y="2130000"/>
            <a:ext cx="2700000" cy="28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9" name="CT8"/>
          <p:cNvSpPr txSpPr="1"/>
          <p:nvPr/>
        </p:nvSpPr>
        <p:spPr>
          <a:xfrm>
            <a:off x="532440" y="2205000"/>
            <a:ext cx="24580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30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Thach thuc 1</a:t>
            </a:r>
            <a:endParaRPr lang="vi-VN" sz="900" dirty="0"/>
          </a:p>
          <a:p>
            <a:pPr marL="0" indent="0" algn="l">
              <a:buNone/>
            </a:pPr>
            <a:r>
              <a:rPr lang="vi-VN" sz="90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 hinh da dang</a:t>
            </a:r>
            <a:endParaRPr lang="vi-VN" sz="900" dirty="0"/>
          </a:p>
        </p:txBody>
      </p:sp>
      <p:sp>
        <p:nvSpPr>
          <p:cNvPr id="10" name="CS8"/>
          <p:cNvSpPr/>
          <p:nvPr/>
        </p:nvSpPr>
        <p:spPr>
          <a:xfrm>
            <a:off x="532440" y="2570000"/>
            <a:ext cx="2458080" cy="120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11" name="CBody8"/>
          <p:cNvSpPr txSpPr="1"/>
          <p:nvPr/>
        </p:nvSpPr>
        <p:spPr>
          <a:xfrm>
            <a:off x="532440" y="2600000"/>
            <a:ext cx="2458080" cy="23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60"/>
              </a:spcBef>
            </a:pPr>
            <a:r>
              <a:rPr lang="vi-VN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train 1 lan co dinh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kem khi gap dia hinh moi</a:t>
            </a:r>
            <a:endParaRPr lang="vi-VN" sz="900" dirty="0"/>
          </a:p>
          <a:p>
            <a:pPr marL="0" indent="0">
              <a:buNone/>
            </a:pPr>
            <a:endParaRPr lang="vi-VN" sz="8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dia hinh khac biet: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mountain · forest · coastal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desert · urban</a:t>
            </a:r>
            <a:endParaRPr lang="vi-VN" sz="900" dirty="0"/>
          </a:p>
          <a:p>
            <a:pPr marL="0" indent="0">
              <a:buNone/>
            </a:pPr>
            <a:endParaRPr lang="vi-VN" sz="8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Texture, mau sac, anh sang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hoan toan khac nhau</a:t>
            </a:r>
            <a:endParaRPr lang="vi-VN" sz="900" dirty="0"/>
          </a:p>
        </p:txBody>
      </p:sp>
      <p:sp>
        <p:nvSpPr>
          <p:cNvPr id="12" name="CB12"/>
          <p:cNvSpPr/>
          <p:nvPr/>
        </p:nvSpPr>
        <p:spPr>
          <a:xfrm>
            <a:off x="3221800" y="2130000"/>
            <a:ext cx="2700000" cy="28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13" name="CT12"/>
          <p:cNvSpPr txSpPr="1"/>
          <p:nvPr/>
        </p:nvSpPr>
        <p:spPr>
          <a:xfrm>
            <a:off x="3342760" y="2205000"/>
            <a:ext cx="24580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30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Thach thuc 2</a:t>
            </a:r>
            <a:endParaRPr lang="vi-VN" sz="900" dirty="0"/>
          </a:p>
          <a:p>
            <a:pPr marL="0" indent="0" algn="l">
              <a:buNone/>
            </a:pPr>
            <a:r>
              <a:rPr lang="vi-VN" sz="90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Khong the dung bay</a:t>
            </a:r>
            <a:endParaRPr lang="vi-VN" sz="900" dirty="0"/>
          </a:p>
        </p:txBody>
      </p:sp>
      <p:sp>
        <p:nvSpPr>
          <p:cNvPr id="14" name="CS12"/>
          <p:cNvSpPr/>
          <p:nvPr/>
        </p:nvSpPr>
        <p:spPr>
          <a:xfrm>
            <a:off x="3342760" y="2570000"/>
            <a:ext cx="2458080" cy="120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15" name="CBody12"/>
          <p:cNvSpPr txSpPr="1"/>
          <p:nvPr/>
        </p:nvSpPr>
        <p:spPr>
          <a:xfrm>
            <a:off x="3342760" y="2600000"/>
            <a:ext cx="2458080" cy="23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60"/>
              </a:spcBef>
            </a:pPr>
            <a:r>
              <a:rPr lang="vi-VN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hoat dong lien tuc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khong the reboot de retrain</a:t>
            </a:r>
            <a:endParaRPr lang="vi-VN" sz="900" dirty="0"/>
          </a:p>
          <a:p>
            <a:pPr marL="0" indent="0">
              <a:buNone/>
            </a:pPr>
            <a:endParaRPr lang="vi-VN" sz="8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retrain = 0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Phai huan luyen nen (async)</a:t>
            </a:r>
            <a:endParaRPr lang="vi-VN" sz="900" dirty="0"/>
          </a:p>
          <a:p>
            <a:pPr marL="0" indent="0">
              <a:buNone/>
            </a:pPr>
            <a:endParaRPr lang="vi-VN" sz="8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fire-and-forget: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truoc, train sau</a:t>
            </a:r>
            <a:endParaRPr lang="vi-VN" sz="900" dirty="0"/>
          </a:p>
        </p:txBody>
      </p:sp>
      <p:sp>
        <p:nvSpPr>
          <p:cNvPr id="16" name="CB16"/>
          <p:cNvSpPr/>
          <p:nvPr/>
        </p:nvSpPr>
        <p:spPr>
          <a:xfrm>
            <a:off x="6032120" y="2130000"/>
            <a:ext cx="2700000" cy="28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17" name="CT16"/>
          <p:cNvSpPr txSpPr="1"/>
          <p:nvPr/>
        </p:nvSpPr>
        <p:spPr>
          <a:xfrm>
            <a:off x="6153080" y="2205000"/>
            <a:ext cx="24580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300" dirty="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phap: Nested Learning</a:t>
            </a:r>
            <a:endParaRPr lang="vi-VN" sz="900" dirty="0"/>
          </a:p>
          <a:p>
            <a:pPr marL="0" indent="0" algn="l">
              <a:buNone/>
            </a:pPr>
            <a:r>
              <a:rPr lang="vi-VN" sz="90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continuous learning</a:t>
            </a:r>
            <a:endParaRPr lang="vi-VN" sz="900" dirty="0"/>
          </a:p>
        </p:txBody>
      </p:sp>
      <p:sp>
        <p:nvSpPr>
          <p:cNvPr id="18" name="CS16"/>
          <p:cNvSpPr/>
          <p:nvPr/>
        </p:nvSpPr>
        <p:spPr>
          <a:xfrm>
            <a:off x="6153080" y="2570000"/>
            <a:ext cx="2458080" cy="120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19" name="CBody16"/>
          <p:cNvSpPr txSpPr="1"/>
          <p:nvPr/>
        </p:nvSpPr>
        <p:spPr>
          <a:xfrm>
            <a:off x="6153080" y="2600000"/>
            <a:ext cx="2458080" cy="23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 ngay khi bay — khong dung</a:t>
            </a:r>
            <a:endParaRPr lang="vi-VN" sz="900" dirty="0"/>
          </a:p>
          <a:p>
            <a:pPr marL="0" indent="0">
              <a:buNone/>
            </a:pPr>
            <a:endParaRPr lang="vi-VN" sz="8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toc do ky uc Hebbian: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M_t (fast) · M_med · M_slow</a:t>
            </a:r>
            <a:endParaRPr lang="vi-VN" sz="900" dirty="0"/>
          </a:p>
          <a:p>
            <a:pPr marL="0" indent="0">
              <a:buNone/>
            </a:pPr>
            <a:endParaRPr lang="vi-VN" sz="8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Auto-trigger retrain khi drift lon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K8s Job chay nen</a:t>
            </a:r>
            <a:endParaRPr lang="vi-VN" sz="900" dirty="0"/>
          </a:p>
          <a:p>
            <a:pPr marL="0" indent="0">
              <a:buNone/>
            </a:pPr>
            <a:endParaRPr lang="vi-VN" sz="8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rieng theo tung terrain</a:t>
            </a:r>
            <a:endParaRPr lang="vi-VN" sz="900" dirty="0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lgorithm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9525">
            <a:solidFill>
              <a:srgbClr val="B71C1C"/>
            </a:solidFill>
            <a:prstDash val="solid"/>
          </a:ln>
        </p:spPr>
      </p:sp>
      <p:sp>
        <p:nvSpPr>
          <p:cNvPr id="3" name="HTitle"/>
          <p:cNvSpPr txSpPr="1"/>
          <p:nvPr/>
        </p:nvSpPr>
        <p:spPr>
          <a:xfrm>
            <a:off x="411480" y="109728"/>
            <a:ext cx="77724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2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Thuat toan Nested Learning</a:t>
            </a:r>
            <a:endParaRPr lang="vi-VN" sz="900" dirty="0"/>
          </a:p>
        </p:txBody>
      </p:sp>
      <p:sp>
        <p:nvSpPr>
          <p:cNvPr id="4" name="HRight"/>
          <p:cNvSpPr txSpPr="1"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Pipeline · VDT 2026</a:t>
            </a:r>
            <a:endParaRPr lang="vi-VN" sz="900" dirty="0"/>
          </a:p>
        </p:txBody>
      </p:sp>
      <p:sp>
        <p:nvSpPr>
          <p:cNvPr id="5" name="HSub"/>
          <p:cNvSpPr txSpPr="1"/>
          <p:nvPr/>
        </p:nvSpPr>
        <p:spPr>
          <a:xfrm>
            <a:off x="411480" y="690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 — xu ly on-device tai UAV · moi frame</a:t>
            </a:r>
            <a:endParaRPr lang="vi-VN" sz="900" dirty="0"/>
          </a:p>
        </p:txBody>
      </p:sp>
      <p:sp>
        <p:nvSpPr>
          <p:cNvPr id="6" name="LBG"/>
          <p:cNvSpPr/>
          <p:nvPr/>
        </p:nvSpPr>
        <p:spPr>
          <a:xfrm>
            <a:off x="411480" y="1097280"/>
            <a:ext cx="4400000" cy="39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7" name="LT"/>
          <p:cNvSpPr txSpPr="1"/>
          <p:nvPr/>
        </p:nvSpPr>
        <p:spPr>
          <a:xfrm>
            <a:off x="532440" y="1167280"/>
            <a:ext cx="4158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30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Processing (lap lien tuc khi bay)</a:t>
            </a:r>
            <a:endParaRPr lang="vi-VN" sz="900" dirty="0"/>
          </a:p>
        </p:txBody>
      </p:sp>
      <p:sp>
        <p:nvSpPr>
          <p:cNvPr id="8" name="LS"/>
          <p:cNvSpPr/>
          <p:nvPr/>
        </p:nvSpPr>
        <p:spPr>
          <a:xfrm>
            <a:off x="532440" y="1447280"/>
            <a:ext cx="4158080" cy="120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9" name="SN0"/>
          <p:cNvSpPr/>
          <p:nvPr/>
        </p:nvSpPr>
        <p:spPr>
          <a:xfrm>
            <a:off x="532440" y="1487280"/>
            <a:ext cx="300000" cy="380000"/>
          </a:xfrm>
          <a:prstGeom prst="roundRect">
            <a:avLst>
              <a:gd name="adj" fmla="val 50000"/>
            </a:avLst>
          </a:prstGeom>
          <a:solidFill>
            <a:srgbClr val="B71C1C"/>
          </a:solidFill>
          <a:ln/>
        </p:spPr>
      </p:sp>
      <p:sp>
        <p:nvSpPr>
          <p:cNvPr id="10" name="SNT0"/>
          <p:cNvSpPr txSpPr="1"/>
          <p:nvPr/>
        </p:nvSpPr>
        <p:spPr>
          <a:xfrm>
            <a:off x="532440" y="1487280"/>
            <a:ext cx="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2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vi-VN" sz="900" dirty="0"/>
          </a:p>
        </p:txBody>
      </p:sp>
      <p:sp>
        <p:nvSpPr>
          <p:cNvPr id="11" name="STL0"/>
          <p:cNvSpPr txSpPr="1"/>
          <p:nvPr/>
        </p:nvSpPr>
        <p:spPr>
          <a:xfrm>
            <a:off x="861480" y="1507280"/>
            <a:ext cx="38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0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vi-VN" sz="900" dirty="0"/>
          </a:p>
        </p:txBody>
      </p:sp>
      <p:sp>
        <p:nvSpPr>
          <p:cNvPr id="12" name="STB0"/>
          <p:cNvSpPr txSpPr="1"/>
          <p:nvPr/>
        </p:nvSpPr>
        <p:spPr>
          <a:xfrm>
            <a:off x="861480" y="1697280"/>
            <a:ext cx="38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ResNet18(frame) → 512-d feature vector v_t</a:t>
            </a:r>
            <a:endParaRPr lang="vi-VN" sz="900" dirty="0"/>
          </a:p>
        </p:txBody>
      </p:sp>
      <p:sp>
        <p:nvSpPr>
          <p:cNvPr id="13" name="SN1"/>
          <p:cNvSpPr/>
          <p:nvPr/>
        </p:nvSpPr>
        <p:spPr>
          <a:xfrm>
            <a:off x="532440" y="1997280"/>
            <a:ext cx="300000" cy="380000"/>
          </a:xfrm>
          <a:prstGeom prst="roundRect">
            <a:avLst>
              <a:gd name="adj" fmla="val 50000"/>
            </a:avLst>
          </a:prstGeom>
          <a:solidFill>
            <a:srgbClr val="B71C1C"/>
          </a:solidFill>
          <a:ln/>
        </p:spPr>
      </p:sp>
      <p:sp>
        <p:nvSpPr>
          <p:cNvPr id="14" name="SNT1"/>
          <p:cNvSpPr txSpPr="1"/>
          <p:nvPr/>
        </p:nvSpPr>
        <p:spPr>
          <a:xfrm>
            <a:off x="532440" y="1997280"/>
            <a:ext cx="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2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vi-VN" sz="900" dirty="0"/>
          </a:p>
        </p:txBody>
      </p:sp>
      <p:sp>
        <p:nvSpPr>
          <p:cNvPr id="15" name="STL1"/>
          <p:cNvSpPr txSpPr="1"/>
          <p:nvPr/>
        </p:nvSpPr>
        <p:spPr>
          <a:xfrm>
            <a:off x="861480" y="2017280"/>
            <a:ext cx="38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0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Delta</a:t>
            </a:r>
            <a:endParaRPr lang="vi-VN" sz="900" dirty="0"/>
          </a:p>
        </p:txBody>
      </p:sp>
      <p:sp>
        <p:nvSpPr>
          <p:cNvPr id="16" name="STB1"/>
          <p:cNvSpPr txSpPr="1"/>
          <p:nvPr/>
        </p:nvSpPr>
        <p:spPr>
          <a:xfrm>
            <a:off x="861480" y="2207280"/>
            <a:ext cx="38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= cosine_dist(v_t, v_{t-1})</a:t>
            </a:r>
            <a:endParaRPr lang="vi-VN" sz="900" dirty="0"/>
          </a:p>
        </p:txBody>
      </p:sp>
      <p:sp>
        <p:nvSpPr>
          <p:cNvPr id="17" name="SN2"/>
          <p:cNvSpPr/>
          <p:nvPr/>
        </p:nvSpPr>
        <p:spPr>
          <a:xfrm>
            <a:off x="532440" y="2507280"/>
            <a:ext cx="300000" cy="380000"/>
          </a:xfrm>
          <a:prstGeom prst="roundRect">
            <a:avLst>
              <a:gd name="adj" fmla="val 50000"/>
            </a:avLst>
          </a:prstGeom>
          <a:solidFill>
            <a:srgbClr val="B71C1C"/>
          </a:solidFill>
          <a:ln/>
        </p:spPr>
      </p:sp>
      <p:sp>
        <p:nvSpPr>
          <p:cNvPr id="18" name="SNT2"/>
          <p:cNvSpPr txSpPr="1"/>
          <p:nvPr/>
        </p:nvSpPr>
        <p:spPr>
          <a:xfrm>
            <a:off x="532440" y="2507280"/>
            <a:ext cx="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2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vi-VN" sz="900" dirty="0"/>
          </a:p>
        </p:txBody>
      </p:sp>
      <p:sp>
        <p:nvSpPr>
          <p:cNvPr id="19" name="STL2"/>
          <p:cNvSpPr txSpPr="1"/>
          <p:nvPr/>
        </p:nvSpPr>
        <p:spPr>
          <a:xfrm>
            <a:off x="861480" y="2527280"/>
            <a:ext cx="38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0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 Drift</a:t>
            </a:r>
            <a:endParaRPr lang="vi-VN" sz="900" dirty="0"/>
          </a:p>
        </p:txBody>
      </p:sp>
      <p:sp>
        <p:nvSpPr>
          <p:cNvPr id="20" name="STB2"/>
          <p:cNvSpPr txSpPr="1"/>
          <p:nvPr/>
        </p:nvSpPr>
        <p:spPr>
          <a:xfrm>
            <a:off x="861480" y="2717280"/>
            <a:ext cx="38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drift_acc += delta</a:t>
            </a:r>
            <a:endParaRPr lang="vi-VN" sz="900" dirty="0"/>
          </a:p>
        </p:txBody>
      </p:sp>
      <p:sp>
        <p:nvSpPr>
          <p:cNvPr id="21" name="SN3"/>
          <p:cNvSpPr/>
          <p:nvPr/>
        </p:nvSpPr>
        <p:spPr>
          <a:xfrm>
            <a:off x="532440" y="3017280"/>
            <a:ext cx="300000" cy="380000"/>
          </a:xfrm>
          <a:prstGeom prst="roundRect">
            <a:avLst>
              <a:gd name="adj" fmla="val 50000"/>
            </a:avLst>
          </a:prstGeom>
          <a:solidFill>
            <a:srgbClr val="B71C1C"/>
          </a:solidFill>
          <a:ln/>
        </p:spPr>
      </p:sp>
      <p:sp>
        <p:nvSpPr>
          <p:cNvPr id="22" name="SNT3"/>
          <p:cNvSpPr txSpPr="1"/>
          <p:nvPr/>
        </p:nvSpPr>
        <p:spPr>
          <a:xfrm>
            <a:off x="532440" y="3017280"/>
            <a:ext cx="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2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vi-VN" sz="900" dirty="0"/>
          </a:p>
        </p:txBody>
      </p:sp>
      <p:sp>
        <p:nvSpPr>
          <p:cNvPr id="23" name="STL3"/>
          <p:cNvSpPr txSpPr="1"/>
          <p:nvPr/>
        </p:nvSpPr>
        <p:spPr>
          <a:xfrm>
            <a:off x="861480" y="3037280"/>
            <a:ext cx="38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0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Level</a:t>
            </a:r>
            <a:endParaRPr lang="vi-VN" sz="900" dirty="0"/>
          </a:p>
        </p:txBody>
      </p:sp>
      <p:sp>
        <p:nvSpPr>
          <p:cNvPr id="24" name="STB3"/>
          <p:cNvSpPr txSpPr="1"/>
          <p:nvPr/>
        </p:nvSpPr>
        <p:spPr>
          <a:xfrm>
            <a:off x="861480" y="3227280"/>
            <a:ext cx="38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skip(&lt;0.10) fast(&lt;0.30) medium(&lt;0.65) slow(&gt;=0.65)</a:t>
            </a:r>
            <a:endParaRPr lang="vi-VN" sz="900" dirty="0"/>
          </a:p>
        </p:txBody>
      </p:sp>
      <p:sp>
        <p:nvSpPr>
          <p:cNvPr id="25" name="SN4"/>
          <p:cNvSpPr/>
          <p:nvPr/>
        </p:nvSpPr>
        <p:spPr>
          <a:xfrm>
            <a:off x="532440" y="3527280"/>
            <a:ext cx="300000" cy="380000"/>
          </a:xfrm>
          <a:prstGeom prst="roundRect">
            <a:avLst>
              <a:gd name="adj" fmla="val 50000"/>
            </a:avLst>
          </a:prstGeom>
          <a:solidFill>
            <a:srgbClr val="B71C1C"/>
          </a:solidFill>
          <a:ln/>
        </p:spPr>
      </p:sp>
      <p:sp>
        <p:nvSpPr>
          <p:cNvPr id="26" name="SNT4"/>
          <p:cNvSpPr txSpPr="1"/>
          <p:nvPr/>
        </p:nvSpPr>
        <p:spPr>
          <a:xfrm>
            <a:off x="532440" y="3527280"/>
            <a:ext cx="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2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vi-VN" sz="900" dirty="0"/>
          </a:p>
        </p:txBody>
      </p:sp>
      <p:sp>
        <p:nvSpPr>
          <p:cNvPr id="27" name="STL4"/>
          <p:cNvSpPr txSpPr="1"/>
          <p:nvPr/>
        </p:nvSpPr>
        <p:spPr>
          <a:xfrm>
            <a:off x="861480" y="3547280"/>
            <a:ext cx="38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0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Hebbian Update</a:t>
            </a:r>
            <a:endParaRPr lang="vi-VN" sz="900" dirty="0"/>
          </a:p>
        </p:txBody>
      </p:sp>
      <p:sp>
        <p:nvSpPr>
          <p:cNvPr id="28" name="STB4"/>
          <p:cNvSpPr txSpPr="1"/>
          <p:nvPr/>
        </p:nvSpPr>
        <p:spPr>
          <a:xfrm>
            <a:off x="861480" y="3737280"/>
            <a:ext cx="38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← alpha·M + v⊗k   [alpha = 0.90 / 0.95 / 0.99]</a:t>
            </a:r>
            <a:endParaRPr lang="vi-VN" sz="900" dirty="0"/>
          </a:p>
        </p:txBody>
      </p:sp>
      <p:sp>
        <p:nvSpPr>
          <p:cNvPr id="29" name="SN5"/>
          <p:cNvSpPr/>
          <p:nvPr/>
        </p:nvSpPr>
        <p:spPr>
          <a:xfrm>
            <a:off x="532440" y="4037280"/>
            <a:ext cx="300000" cy="380000"/>
          </a:xfrm>
          <a:prstGeom prst="roundRect">
            <a:avLst>
              <a:gd name="adj" fmla="val 50000"/>
            </a:avLst>
          </a:prstGeom>
          <a:solidFill>
            <a:srgbClr val="B71C1C"/>
          </a:solidFill>
          <a:ln/>
        </p:spPr>
      </p:sp>
      <p:sp>
        <p:nvSpPr>
          <p:cNvPr id="30" name="SNT5"/>
          <p:cNvSpPr txSpPr="1"/>
          <p:nvPr/>
        </p:nvSpPr>
        <p:spPr>
          <a:xfrm>
            <a:off x="532440" y="4037280"/>
            <a:ext cx="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2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vi-VN" sz="900" dirty="0"/>
          </a:p>
        </p:txBody>
      </p:sp>
      <p:sp>
        <p:nvSpPr>
          <p:cNvPr id="31" name="STL5"/>
          <p:cNvSpPr txSpPr="1"/>
          <p:nvPr/>
        </p:nvSpPr>
        <p:spPr>
          <a:xfrm>
            <a:off x="861480" y="4057280"/>
            <a:ext cx="38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0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NLResNet Forward</a:t>
            </a:r>
            <a:endParaRPr lang="vi-VN" sz="900" dirty="0"/>
          </a:p>
        </p:txBody>
      </p:sp>
      <p:sp>
        <p:nvSpPr>
          <p:cNvPr id="32" name="STB5"/>
          <p:cNvSpPr txSpPr="1"/>
          <p:nvPr/>
        </p:nvSpPr>
        <p:spPr>
          <a:xfrm>
            <a:off x="861480" y="4247280"/>
            <a:ext cx="38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= M×v + v  →  FC  →  action</a:t>
            </a:r>
            <a:endParaRPr lang="vi-VN" sz="900" dirty="0"/>
          </a:p>
        </p:txBody>
      </p:sp>
      <p:sp>
        <p:nvSpPr>
          <p:cNvPr id="33" name="SN6"/>
          <p:cNvSpPr/>
          <p:nvPr/>
        </p:nvSpPr>
        <p:spPr>
          <a:xfrm>
            <a:off x="532440" y="4547280"/>
            <a:ext cx="300000" cy="380000"/>
          </a:xfrm>
          <a:prstGeom prst="roundRect">
            <a:avLst>
              <a:gd name="adj" fmla="val 50000"/>
            </a:avLst>
          </a:prstGeom>
          <a:solidFill>
            <a:srgbClr val="B71C1C"/>
          </a:solidFill>
          <a:ln/>
        </p:spPr>
      </p:sp>
      <p:sp>
        <p:nvSpPr>
          <p:cNvPr id="34" name="SNT6"/>
          <p:cNvSpPr txSpPr="1"/>
          <p:nvPr/>
        </p:nvSpPr>
        <p:spPr>
          <a:xfrm>
            <a:off x="532440" y="4547280"/>
            <a:ext cx="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2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vi-VN" sz="900" dirty="0"/>
          </a:p>
        </p:txBody>
      </p:sp>
      <p:sp>
        <p:nvSpPr>
          <p:cNvPr id="35" name="STL6"/>
          <p:cNvSpPr txSpPr="1"/>
          <p:nvPr/>
        </p:nvSpPr>
        <p:spPr>
          <a:xfrm>
            <a:off x="861480" y="4567280"/>
            <a:ext cx="38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0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+ Trigger</a:t>
            </a:r>
            <a:endParaRPr lang="vi-VN" sz="900" dirty="0"/>
          </a:p>
        </p:txBody>
      </p:sp>
      <p:sp>
        <p:nvSpPr>
          <p:cNvPr id="36" name="STB6"/>
          <p:cNvSpPr txSpPr="1"/>
          <p:nvPr/>
        </p:nvSpPr>
        <p:spPr>
          <a:xfrm>
            <a:off x="861480" y="4757280"/>
            <a:ext cx="38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slow/medium: upload frames → Kafka event → K8s Job</a:t>
            </a:r>
            <a:endParaRPr lang="vi-VN" sz="900" dirty="0"/>
          </a:p>
        </p:txBody>
      </p:sp>
      <p:sp>
        <p:nvSpPr>
          <p:cNvPr id="37" name="RBG"/>
          <p:cNvSpPr/>
          <p:nvPr/>
        </p:nvSpPr>
        <p:spPr>
          <a:xfrm>
            <a:off x="4932520" y="1097280"/>
            <a:ext cx="4200000" cy="39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38" name="RT"/>
          <p:cNvSpPr txSpPr="1"/>
          <p:nvPr/>
        </p:nvSpPr>
        <p:spPr>
          <a:xfrm>
            <a:off x="5053480" y="1167280"/>
            <a:ext cx="3958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30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Phan loai Level + Ky uc</a:t>
            </a:r>
            <a:endParaRPr lang="vi-VN" sz="900" dirty="0"/>
          </a:p>
        </p:txBody>
      </p:sp>
      <p:sp>
        <p:nvSpPr>
          <p:cNvPr id="39" name="RS"/>
          <p:cNvSpPr/>
          <p:nvPr/>
        </p:nvSpPr>
        <p:spPr>
          <a:xfrm>
            <a:off x="5053480" y="1447280"/>
            <a:ext cx="3958080" cy="120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40" name="LV0"/>
          <p:cNvSpPr/>
          <p:nvPr/>
        </p:nvSpPr>
        <p:spPr>
          <a:xfrm>
            <a:off x="5053480" y="1487280"/>
            <a:ext cx="3958080" cy="4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66BB6A"/>
            </a:solidFill>
            <a:prstDash val="solid"/>
          </a:ln>
        </p:spPr>
      </p:sp>
      <p:sp>
        <p:nvSpPr>
          <p:cNvPr id="41" name="LVT0"/>
          <p:cNvSpPr txSpPr="1"/>
          <p:nvPr/>
        </p:nvSpPr>
        <p:spPr>
          <a:xfrm>
            <a:off x="5112520" y="1547280"/>
            <a:ext cx="75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150" dirty="0" b="1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</a:t>
            </a:r>
            <a:endParaRPr lang="vi-VN" sz="900" dirty="0"/>
          </a:p>
        </p:txBody>
      </p:sp>
      <p:sp>
        <p:nvSpPr>
          <p:cNvPr id="42" name="LVC0"/>
          <p:cNvSpPr txSpPr="1"/>
          <p:nvPr/>
        </p:nvSpPr>
        <p:spPr>
          <a:xfrm>
            <a:off x="5112520" y="1727280"/>
            <a:ext cx="75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&lt; 0.10</a:t>
            </a:r>
            <a:endParaRPr lang="vi-VN" sz="900" dirty="0"/>
          </a:p>
        </p:txBody>
      </p:sp>
      <p:sp>
        <p:nvSpPr>
          <p:cNvPr id="43" name="LVA0"/>
          <p:cNvSpPr txSpPr="1"/>
          <p:nvPr/>
        </p:nvSpPr>
        <p:spPr>
          <a:xfrm>
            <a:off x="5872520" y="1547280"/>
            <a:ext cx="3100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Hebbian only — khong upload</a:t>
            </a:r>
            <a:endParaRPr lang="vi-VN" sz="900" dirty="0"/>
          </a:p>
        </p:txBody>
      </p:sp>
      <p:sp>
        <p:nvSpPr>
          <p:cNvPr id="44" name="LV1"/>
          <p:cNvSpPr/>
          <p:nvPr/>
        </p:nvSpPr>
        <p:spPr>
          <a:xfrm>
            <a:off x="5053480" y="1957280"/>
            <a:ext cx="3958080" cy="4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42A5F5"/>
            </a:solidFill>
            <a:prstDash val="solid"/>
          </a:ln>
        </p:spPr>
      </p:sp>
      <p:sp>
        <p:nvSpPr>
          <p:cNvPr id="45" name="LVT1"/>
          <p:cNvSpPr txSpPr="1"/>
          <p:nvPr/>
        </p:nvSpPr>
        <p:spPr>
          <a:xfrm>
            <a:off x="5112520" y="2017280"/>
            <a:ext cx="75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150" dirty="0" b="1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vi-VN" sz="900" dirty="0"/>
          </a:p>
        </p:txBody>
      </p:sp>
      <p:sp>
        <p:nvSpPr>
          <p:cNvPr id="46" name="LVC1"/>
          <p:cNvSpPr txSpPr="1"/>
          <p:nvPr/>
        </p:nvSpPr>
        <p:spPr>
          <a:xfrm>
            <a:off x="5112520" y="2197280"/>
            <a:ext cx="75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&lt; 0.30</a:t>
            </a:r>
            <a:endParaRPr lang="vi-VN" sz="900" dirty="0"/>
          </a:p>
        </p:txBody>
      </p:sp>
      <p:sp>
        <p:nvSpPr>
          <p:cNvPr id="47" name="LVA1"/>
          <p:cNvSpPr txSpPr="1"/>
          <p:nvPr/>
        </p:nvSpPr>
        <p:spPr>
          <a:xfrm>
            <a:off x="5872520" y="2017280"/>
            <a:ext cx="3100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Hebbian only — khong upload</a:t>
            </a:r>
            <a:endParaRPr lang="vi-VN" sz="900" dirty="0"/>
          </a:p>
        </p:txBody>
      </p:sp>
      <p:sp>
        <p:nvSpPr>
          <p:cNvPr id="48" name="LV2"/>
          <p:cNvSpPr/>
          <p:nvPr/>
        </p:nvSpPr>
        <p:spPr>
          <a:xfrm>
            <a:off x="5053480" y="2427280"/>
            <a:ext cx="3958080" cy="4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49" name="LVT2"/>
          <p:cNvSpPr txSpPr="1"/>
          <p:nvPr/>
        </p:nvSpPr>
        <p:spPr>
          <a:xfrm>
            <a:off x="5112520" y="2487280"/>
            <a:ext cx="75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150" dirty="0" b="1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vi-VN" sz="900" dirty="0"/>
          </a:p>
        </p:txBody>
      </p:sp>
      <p:sp>
        <p:nvSpPr>
          <p:cNvPr id="50" name="LVC2"/>
          <p:cNvSpPr txSpPr="1"/>
          <p:nvPr/>
        </p:nvSpPr>
        <p:spPr>
          <a:xfrm>
            <a:off x="5112520" y="2667280"/>
            <a:ext cx="75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&lt; 0.65</a:t>
            </a:r>
            <a:endParaRPr lang="vi-VN" sz="900" dirty="0"/>
          </a:p>
        </p:txBody>
      </p:sp>
      <p:sp>
        <p:nvSpPr>
          <p:cNvPr id="51" name="LVA2"/>
          <p:cNvSpPr txSpPr="1"/>
          <p:nvPr/>
        </p:nvSpPr>
        <p:spPr>
          <a:xfrm>
            <a:off x="5872520" y="2487280"/>
            <a:ext cx="3100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+ trigger → fine-tune FC only</a:t>
            </a:r>
            <a:endParaRPr lang="vi-VN" sz="900" dirty="0"/>
          </a:p>
        </p:txBody>
      </p:sp>
      <p:sp>
        <p:nvSpPr>
          <p:cNvPr id="52" name="LV3"/>
          <p:cNvSpPr/>
          <p:nvPr/>
        </p:nvSpPr>
        <p:spPr>
          <a:xfrm>
            <a:off x="5053480" y="2897280"/>
            <a:ext cx="3958080" cy="40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EF5350"/>
            </a:solidFill>
            <a:prstDash val="solid"/>
          </a:ln>
        </p:spPr>
      </p:sp>
      <p:sp>
        <p:nvSpPr>
          <p:cNvPr id="53" name="LVT3"/>
          <p:cNvSpPr txSpPr="1"/>
          <p:nvPr/>
        </p:nvSpPr>
        <p:spPr>
          <a:xfrm>
            <a:off x="5112520" y="2957280"/>
            <a:ext cx="75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150" dirty="0" b="1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</a:t>
            </a:r>
            <a:endParaRPr lang="vi-VN" sz="900" dirty="0"/>
          </a:p>
        </p:txBody>
      </p:sp>
      <p:sp>
        <p:nvSpPr>
          <p:cNvPr id="54" name="LVC3"/>
          <p:cNvSpPr txSpPr="1"/>
          <p:nvPr/>
        </p:nvSpPr>
        <p:spPr>
          <a:xfrm>
            <a:off x="5112520" y="3137280"/>
            <a:ext cx="750000" cy="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&gt;= 0.65</a:t>
            </a:r>
            <a:endParaRPr lang="vi-VN" sz="900" dirty="0"/>
          </a:p>
        </p:txBody>
      </p:sp>
      <p:sp>
        <p:nvSpPr>
          <p:cNvPr id="55" name="LVA3"/>
          <p:cNvSpPr txSpPr="1"/>
          <p:nvPr/>
        </p:nvSpPr>
        <p:spPr>
          <a:xfrm>
            <a:off x="5872520" y="2957280"/>
            <a:ext cx="310000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+ trigger → full backbone retrain</a:t>
            </a:r>
            <a:endParaRPr lang="vi-VN" sz="900" dirty="0"/>
          </a:p>
        </p:txBody>
      </p:sp>
      <p:sp>
        <p:nvSpPr>
          <p:cNvPr id="56" name="MBG"/>
          <p:cNvSpPr/>
          <p:nvPr/>
        </p:nvSpPr>
        <p:spPr>
          <a:xfrm>
            <a:off x="5053480" y="3387280"/>
            <a:ext cx="3958080" cy="1580000"/>
          </a:xfrm>
          <a:prstGeom prst="roundRect">
            <a:avLst>
              <a:gd name="adj" fmla="val 3000"/>
            </a:avLst>
          </a:prstGeom>
          <a:solidFill>
            <a:srgbClr val="FFF5F5"/>
          </a:solidFill>
          <a:ln w="9525">
            <a:solidFill>
              <a:srgbClr val="FFCDD2"/>
            </a:solidFill>
            <a:prstDash val="solid"/>
          </a:ln>
        </p:spPr>
      </p:sp>
      <p:sp>
        <p:nvSpPr>
          <p:cNvPr id="57" name="MT"/>
          <p:cNvSpPr txSpPr="1"/>
          <p:nvPr/>
        </p:nvSpPr>
        <p:spPr>
          <a:xfrm>
            <a:off x="5132520" y="3457280"/>
            <a:ext cx="3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10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Hebbian M matrices (512×512 each)</a:t>
            </a:r>
            <a:endParaRPr lang="vi-VN" sz="900" dirty="0"/>
          </a:p>
        </p:txBody>
      </p:sp>
      <p:sp>
        <p:nvSpPr>
          <p:cNvPr id="58" name="M0"/>
          <p:cNvSpPr txSpPr="1"/>
          <p:nvPr/>
        </p:nvSpPr>
        <p:spPr>
          <a:xfrm>
            <a:off x="5132520" y="3707280"/>
            <a:ext cx="1200000" cy="1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vi-VN" sz="1200" dirty="0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M_t</a:t>
            </a:r>
            <a:endParaRPr lang="vi-VN" sz="900" dirty="0"/>
          </a:p>
          <a:p>
            <a:pPr marL="0" indent="0" algn="ctr">
              <a:buNone/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alpha=0.90</a:t>
            </a:r>
            <a:endParaRPr lang="vi-VN" sz="900" dirty="0"/>
          </a:p>
          <a:p>
            <a:pPr marL="0" indent="0" algn="ctr">
              <a:buNone/>
            </a:pPr>
            <a:r>
              <a:rPr lang="vi-VN" sz="90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forget Ky uc ngan han</a:t>
            </a:r>
            <a:endParaRPr lang="vi-VN" sz="900" dirty="0"/>
          </a:p>
        </p:txBody>
      </p:sp>
      <p:sp>
        <p:nvSpPr>
          <p:cNvPr id="59" name="M1"/>
          <p:cNvSpPr txSpPr="1"/>
          <p:nvPr/>
        </p:nvSpPr>
        <p:spPr>
          <a:xfrm>
            <a:off x="6432520" y="3707280"/>
            <a:ext cx="1200000" cy="1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vi-VN" sz="1200" dirty="0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M_med</a:t>
            </a:r>
            <a:endParaRPr lang="vi-VN" sz="900" dirty="0"/>
          </a:p>
          <a:p>
            <a:pPr marL="0" indent="0" algn="ctr">
              <a:buNone/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alpha=0.95</a:t>
            </a:r>
            <a:endParaRPr lang="vi-VN" sz="900" dirty="0"/>
          </a:p>
          <a:p>
            <a:pPr marL="0" indent="0" algn="ctr">
              <a:buNone/>
            </a:pPr>
            <a:r>
              <a:rPr lang="vi-VN" sz="90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Trung han</a:t>
            </a:r>
            <a:endParaRPr lang="vi-VN" sz="900" dirty="0"/>
          </a:p>
        </p:txBody>
      </p:sp>
      <p:sp>
        <p:nvSpPr>
          <p:cNvPr id="60" name="M2"/>
          <p:cNvSpPr txSpPr="1"/>
          <p:nvPr/>
        </p:nvSpPr>
        <p:spPr>
          <a:xfrm>
            <a:off x="7732520" y="3707280"/>
            <a:ext cx="1200000" cy="1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vi-VN" sz="1200" dirty="0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M_slow</a:t>
            </a:r>
            <a:endParaRPr lang="vi-VN" sz="900" dirty="0"/>
          </a:p>
          <a:p>
            <a:pPr marL="0" indent="0" algn="ctr">
              <a:buNone/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alpha=0.99</a:t>
            </a:r>
            <a:endParaRPr lang="vi-VN" sz="900" dirty="0"/>
          </a:p>
          <a:p>
            <a:pPr marL="0" indent="0" algn="ctr">
              <a:buNone/>
            </a:pPr>
            <a:r>
              <a:rPr lang="vi-VN" sz="90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vi-VN" sz="900" dirty="0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rchitecture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9525">
            <a:solidFill>
              <a:srgbClr val="B71C1C"/>
            </a:solidFill>
            <a:prstDash val="solid"/>
          </a:ln>
        </p:spPr>
      </p:sp>
      <p:sp>
        <p:nvSpPr>
          <p:cNvPr id="3" name="HTitle"/>
          <p:cNvSpPr txSpPr="1"/>
          <p:nvPr/>
        </p:nvSpPr>
        <p:spPr>
          <a:xfrm>
            <a:off x="411480" y="109728"/>
            <a:ext cx="77724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2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Kien truc He thong</a:t>
            </a:r>
            <a:endParaRPr lang="vi-VN" sz="900" dirty="0"/>
          </a:p>
        </p:txBody>
      </p:sp>
      <p:sp>
        <p:nvSpPr>
          <p:cNvPr id="4" name="HRight"/>
          <p:cNvSpPr txSpPr="1"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Pipeline · VDT 2026</a:t>
            </a:r>
            <a:endParaRPr lang="vi-VN" sz="900" dirty="0"/>
          </a:p>
        </p:txBody>
      </p:sp>
      <p:sp>
        <p:nvSpPr>
          <p:cNvPr id="5" name="HSub"/>
          <p:cNvSpPr txSpPr="1"/>
          <p:nvPr/>
        </p:nvSpPr>
        <p:spPr>
          <a:xfrm>
            <a:off x="411480" y="690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 quan 4 thanh phan — luong du lieu tu UAV den Storage</a:t>
            </a:r>
            <a:endParaRPr lang="vi-VN" sz="900" dirty="0"/>
          </a:p>
        </p:txBody>
      </p:sp>
      <p:sp>
        <p:nvSpPr>
          <p:cNvPr id="6" name="CB6"/>
          <p:cNvSpPr/>
          <p:nvPr/>
        </p:nvSpPr>
        <p:spPr>
          <a:xfrm>
            <a:off x="411480" y="1097280"/>
            <a:ext cx="2017050" cy="39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7" name="CT6"/>
          <p:cNvSpPr txSpPr="1"/>
          <p:nvPr/>
        </p:nvSpPr>
        <p:spPr>
          <a:xfrm>
            <a:off x="532440" y="1172280"/>
            <a:ext cx="177513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30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/ Edge</a:t>
            </a:r>
            <a:endParaRPr lang="vi-VN" sz="900" dirty="0"/>
          </a:p>
          <a:p>
            <a:pPr marL="0" indent="0" algn="l">
              <a:buNone/>
            </a:pPr>
            <a:r>
              <a:rPr lang="vi-VN" sz="90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PyTorch on-device</a:t>
            </a:r>
            <a:endParaRPr lang="vi-VN" sz="900" dirty="0"/>
          </a:p>
        </p:txBody>
      </p:sp>
      <p:sp>
        <p:nvSpPr>
          <p:cNvPr id="8" name="CS6"/>
          <p:cNvSpPr/>
          <p:nvPr/>
        </p:nvSpPr>
        <p:spPr>
          <a:xfrm>
            <a:off x="532440" y="1537280"/>
            <a:ext cx="1775130" cy="120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9" name="CBody6"/>
          <p:cNvSpPr txSpPr="1"/>
          <p:nvPr/>
        </p:nvSpPr>
        <p:spPr>
          <a:xfrm>
            <a:off x="532440" y="1567280"/>
            <a:ext cx="1775130" cy="3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flight_agent.py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toan bo flow</a:t>
            </a:r>
            <a:endParaRPr lang="vi-VN" sz="900" dirty="0"/>
          </a:p>
          <a:p>
            <a:pPr marL="0" indent="0">
              <a:buNone/>
            </a:pPr>
            <a:endParaRPr lang="vi-VN" sz="8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FeatureExtractor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→ 512-d vector</a:t>
            </a:r>
            <a:endParaRPr lang="vi-VN" sz="900" dirty="0"/>
          </a:p>
          <a:p>
            <a:pPr marL="0" indent="0">
              <a:buNone/>
            </a:pPr>
            <a:endParaRPr lang="vi-VN" sz="8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NestedLearningScheduler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delta, drift_acc, level</a:t>
            </a:r>
            <a:endParaRPr lang="vi-VN" sz="900" dirty="0"/>
          </a:p>
          <a:p>
            <a:pPr marL="0" indent="0">
              <a:buNone/>
            </a:pPr>
            <a:endParaRPr lang="vi-VN" sz="8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VisualPathMemory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M_t · M_med · M_slow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Hebbian on-device</a:t>
            </a:r>
            <a:endParaRPr lang="vi-VN" sz="900" dirty="0"/>
          </a:p>
        </p:txBody>
      </p:sp>
      <p:sp>
        <p:nvSpPr>
          <p:cNvPr id="10" name="A1"/>
          <p:cNvSpPr/>
          <p:nvPr/>
        </p:nvSpPr>
        <p:spPr>
          <a:xfrm>
            <a:off x="2448530" y="2987280"/>
            <a:ext cx="90000" cy="120000"/>
          </a:xfrm>
          <a:prstGeom prst="rightArrow">
            <a:avLst/>
          </a:prstGeom>
          <a:solidFill>
            <a:srgbClr val="E53935"/>
          </a:solidFill>
          <a:ln/>
        </p:spPr>
      </p:sp>
      <p:sp>
        <p:nvSpPr>
          <p:cNvPr id="11" name="CB11"/>
          <p:cNvSpPr/>
          <p:nvPr/>
        </p:nvSpPr>
        <p:spPr>
          <a:xfrm>
            <a:off x="2558530" y="1097280"/>
            <a:ext cx="2017050" cy="39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12" name="CT11"/>
          <p:cNvSpPr txSpPr="1"/>
          <p:nvPr/>
        </p:nvSpPr>
        <p:spPr>
          <a:xfrm>
            <a:off x="2679490" y="1172280"/>
            <a:ext cx="177513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30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vi-VN" sz="900" dirty="0"/>
          </a:p>
          <a:p>
            <a:pPr marL="0" indent="0" algn="l">
              <a:buNone/>
            </a:pPr>
            <a:r>
              <a:rPr lang="vi-VN" sz="90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streaming · Message bus</a:t>
            </a:r>
            <a:endParaRPr lang="vi-VN" sz="900" dirty="0"/>
          </a:p>
        </p:txBody>
      </p:sp>
      <p:sp>
        <p:nvSpPr>
          <p:cNvPr id="13" name="CS11"/>
          <p:cNvSpPr/>
          <p:nvPr/>
        </p:nvSpPr>
        <p:spPr>
          <a:xfrm>
            <a:off x="2679490" y="1537280"/>
            <a:ext cx="1775130" cy="120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14" name="CBody11"/>
          <p:cNvSpPr txSpPr="1"/>
          <p:nvPr/>
        </p:nvSpPr>
        <p:spPr>
          <a:xfrm>
            <a:off x="2679490" y="1567280"/>
            <a:ext cx="1775130" cy="3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topic: retrain-events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{level, terrain, frame_id}</a:t>
            </a:r>
            <a:endParaRPr lang="vi-VN" sz="900" dirty="0"/>
          </a:p>
          <a:p>
            <a:pPr marL="0" indent="0">
              <a:buNone/>
            </a:pPr>
            <a:endParaRPr lang="vi-VN" sz="8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log — 7 ngay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delivery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Fire-and-forget async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khong bi block</a:t>
            </a:r>
            <a:endParaRPr lang="vi-VN" sz="900" dirty="0"/>
          </a:p>
          <a:p>
            <a:pPr marL="0" indent="0">
              <a:buNone/>
            </a:pPr>
            <a:endParaRPr lang="vi-VN" sz="8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Edge vs Cloud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kafka_producer.py →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kafka_consumer.py ←</a:t>
            </a:r>
            <a:endParaRPr lang="vi-VN" sz="900" dirty="0"/>
          </a:p>
        </p:txBody>
      </p:sp>
      <p:sp>
        <p:nvSpPr>
          <p:cNvPr id="15" name="A2"/>
          <p:cNvSpPr/>
          <p:nvPr/>
        </p:nvSpPr>
        <p:spPr>
          <a:xfrm>
            <a:off x="4595580" y="2987280"/>
            <a:ext cx="90000" cy="120000"/>
          </a:xfrm>
          <a:prstGeom prst="rightArrow">
            <a:avLst/>
          </a:prstGeom>
          <a:solidFill>
            <a:srgbClr val="E53935"/>
          </a:solidFill>
          <a:ln/>
        </p:spPr>
      </p:sp>
      <p:sp>
        <p:nvSpPr>
          <p:cNvPr id="16" name="CB16"/>
          <p:cNvSpPr/>
          <p:nvPr/>
        </p:nvSpPr>
        <p:spPr>
          <a:xfrm>
            <a:off x="4705580" y="1097280"/>
            <a:ext cx="2017050" cy="39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17" name="CT16"/>
          <p:cNvSpPr txSpPr="1"/>
          <p:nvPr/>
        </p:nvSpPr>
        <p:spPr>
          <a:xfrm>
            <a:off x="4826540" y="1172280"/>
            <a:ext cx="177513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30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+ PyTorch</a:t>
            </a:r>
            <a:endParaRPr lang="vi-VN" sz="900" dirty="0"/>
          </a:p>
          <a:p>
            <a:pPr marL="0" indent="0" algn="l">
              <a:buNone/>
            </a:pPr>
            <a:r>
              <a:rPr lang="vi-VN" sz="90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· Training</a:t>
            </a:r>
            <a:endParaRPr lang="vi-VN" sz="900" dirty="0"/>
          </a:p>
        </p:txBody>
      </p:sp>
      <p:sp>
        <p:nvSpPr>
          <p:cNvPr id="18" name="CS16"/>
          <p:cNvSpPr/>
          <p:nvPr/>
        </p:nvSpPr>
        <p:spPr>
          <a:xfrm>
            <a:off x="4826540" y="1537280"/>
            <a:ext cx="1775130" cy="120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19" name="CBody16"/>
          <p:cNvSpPr txSpPr="1"/>
          <p:nvPr/>
        </p:nvSpPr>
        <p:spPr>
          <a:xfrm>
            <a:off x="4826540" y="1567280"/>
            <a:ext cx="1775130" cy="3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model_trainer.py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Kafka → spawn K8s Job</a:t>
            </a:r>
            <a:endParaRPr lang="vi-VN" sz="900" dirty="0"/>
          </a:p>
          <a:p>
            <a:pPr marL="0" indent="0">
              <a:buNone/>
            </a:pPr>
            <a:endParaRPr lang="vi-VN" sz="8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Training Job (one-shot)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training/job.py</a:t>
            </a:r>
            <a:endParaRPr lang="vi-VN" sz="900" dirty="0"/>
          </a:p>
          <a:p>
            <a:pPr marL="0" indent="0">
              <a:buNone/>
            </a:pPr>
            <a:endParaRPr lang="vi-VN" sz="8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NLResNet forward: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= M×v + v → FC</a:t>
            </a:r>
            <a:endParaRPr lang="vi-VN" sz="900" dirty="0"/>
          </a:p>
          <a:p>
            <a:pPr marL="0" indent="0">
              <a:buNone/>
            </a:pPr>
            <a:endParaRPr lang="vi-VN" sz="8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→ fine-tune FC only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→ full backbone retrain</a:t>
            </a:r>
            <a:endParaRPr lang="vi-VN" sz="900" dirty="0"/>
          </a:p>
          <a:p>
            <a:pPr marL="0" indent="0">
              <a:buNone/>
            </a:pPr>
            <a:endParaRPr lang="vi-VN" sz="8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register MLflow model</a:t>
            </a:r>
            <a:endParaRPr lang="vi-VN" sz="900" dirty="0"/>
          </a:p>
        </p:txBody>
      </p:sp>
      <p:sp>
        <p:nvSpPr>
          <p:cNvPr id="20" name="A3"/>
          <p:cNvSpPr/>
          <p:nvPr/>
        </p:nvSpPr>
        <p:spPr>
          <a:xfrm>
            <a:off x="6742630" y="2987280"/>
            <a:ext cx="90000" cy="120000"/>
          </a:xfrm>
          <a:prstGeom prst="rightArrow">
            <a:avLst/>
          </a:prstGeom>
          <a:solidFill>
            <a:srgbClr val="E53935"/>
          </a:solidFill>
          <a:ln/>
        </p:spPr>
      </p:sp>
      <p:sp>
        <p:nvSpPr>
          <p:cNvPr id="21" name="CB21"/>
          <p:cNvSpPr/>
          <p:nvPr/>
        </p:nvSpPr>
        <p:spPr>
          <a:xfrm>
            <a:off x="6852630" y="1097280"/>
            <a:ext cx="2017050" cy="39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22" name="CT21"/>
          <p:cNvSpPr txSpPr="1"/>
          <p:nvPr/>
        </p:nvSpPr>
        <p:spPr>
          <a:xfrm>
            <a:off x="6973590" y="1172280"/>
            <a:ext cx="177513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30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+ MLflow</a:t>
            </a:r>
            <a:endParaRPr lang="vi-VN" sz="900" dirty="0"/>
          </a:p>
          <a:p>
            <a:pPr marL="0" indent="0" algn="l">
              <a:buNone/>
            </a:pPr>
            <a:r>
              <a:rPr lang="vi-VN" sz="90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· Model Registry</a:t>
            </a:r>
            <a:endParaRPr lang="vi-VN" sz="900" dirty="0"/>
          </a:p>
        </p:txBody>
      </p:sp>
      <p:sp>
        <p:nvSpPr>
          <p:cNvPr id="23" name="CS21"/>
          <p:cNvSpPr/>
          <p:nvPr/>
        </p:nvSpPr>
        <p:spPr>
          <a:xfrm>
            <a:off x="6973590" y="1537280"/>
            <a:ext cx="1775130" cy="120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24" name="CBody21"/>
          <p:cNvSpPr txSpPr="1"/>
          <p:nvPr/>
        </p:nvSpPr>
        <p:spPr>
          <a:xfrm>
            <a:off x="6973590" y="1567280"/>
            <a:ext cx="1775130" cy="3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RadosGW (S3-compat)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checkpoints/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training-data/ (frames)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fast-weight-state/ (M mat.)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mlflow-artifacts/ (weights)</a:t>
            </a:r>
            <a:endParaRPr lang="vi-VN" sz="900" dirty="0"/>
          </a:p>
          <a:p>
            <a:pPr marL="0" indent="0">
              <a:buNone/>
            </a:pPr>
            <a:endParaRPr lang="vi-VN" sz="8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Tracking: metrics · params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Registry: uav-navigator-{terrain}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v1/v2/... → Staging → Prod</a:t>
            </a:r>
            <a:endParaRPr lang="vi-VN" sz="900" dirty="0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Code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9525">
            <a:solidFill>
              <a:srgbClr val="B71C1C"/>
            </a:solidFill>
            <a:prstDash val="solid"/>
          </a:ln>
        </p:spPr>
      </p:sp>
      <p:sp>
        <p:nvSpPr>
          <p:cNvPr id="3" name="HTitle"/>
          <p:cNvSpPr txSpPr="1"/>
          <p:nvPr/>
        </p:nvSpPr>
        <p:spPr>
          <a:xfrm>
            <a:off x="411480" y="109728"/>
            <a:ext cx="77724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2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— Cau truc Project</a:t>
            </a:r>
            <a:endParaRPr lang="vi-VN" sz="900" dirty="0"/>
          </a:p>
        </p:txBody>
      </p:sp>
      <p:sp>
        <p:nvSpPr>
          <p:cNvPr id="4" name="HRight"/>
          <p:cNvSpPr txSpPr="1"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Pipeline · VDT 2026</a:t>
            </a:r>
            <a:endParaRPr lang="vi-VN" sz="900" dirty="0"/>
          </a:p>
        </p:txBody>
      </p:sp>
      <p:sp>
        <p:nvSpPr>
          <p:cNvPr id="5" name="HSub"/>
          <p:cNvSpPr txSpPr="1"/>
          <p:nvPr/>
        </p:nvSpPr>
        <p:spPr>
          <a:xfrm>
            <a:off x="411480" y="690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chuc module ro rang theo responsibility</a:t>
            </a:r>
            <a:endParaRPr lang="vi-VN" sz="900" dirty="0"/>
          </a:p>
        </p:txBody>
      </p:sp>
      <p:sp>
        <p:nvSpPr>
          <p:cNvPr id="6" name="CB6"/>
          <p:cNvSpPr/>
          <p:nvPr/>
        </p:nvSpPr>
        <p:spPr>
          <a:xfrm>
            <a:off x="411480" y="1097280"/>
            <a:ext cx="1680000" cy="39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7" name="CT6"/>
          <p:cNvSpPr txSpPr="1"/>
          <p:nvPr/>
        </p:nvSpPr>
        <p:spPr>
          <a:xfrm>
            <a:off x="532440" y="1172280"/>
            <a:ext cx="14380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30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</a:t>
            </a:r>
            <a:endParaRPr lang="vi-VN" sz="900" dirty="0"/>
          </a:p>
          <a:p>
            <a:pPr marL="0" indent="0" algn="l">
              <a:buNone/>
            </a:pPr>
            <a:r>
              <a:rPr lang="vi-VN" sz="90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Thuat toan cot loi</a:t>
            </a:r>
            <a:endParaRPr lang="vi-VN" sz="900" dirty="0"/>
          </a:p>
        </p:txBody>
      </p:sp>
      <p:sp>
        <p:nvSpPr>
          <p:cNvPr id="8" name="CS6"/>
          <p:cNvSpPr/>
          <p:nvPr/>
        </p:nvSpPr>
        <p:spPr>
          <a:xfrm>
            <a:off x="532440" y="1537280"/>
            <a:ext cx="1438080" cy="120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9" name="CBody6"/>
          <p:cNvSpPr txSpPr="1"/>
          <p:nvPr/>
        </p:nvSpPr>
        <p:spPr>
          <a:xfrm>
            <a:off x="532440" y="1567280"/>
            <a:ext cx="1438080" cy="3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feature_extractor.py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backbone · action_embedding()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nested_scheduler.py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delta, drift_acc, level, decide()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path_memory.py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M_t/M_med/M_slow, _hebbian()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save/load tu Ceph</a:t>
            </a:r>
            <a:endParaRPr lang="vi-VN" sz="900" dirty="0"/>
          </a:p>
        </p:txBody>
      </p:sp>
      <p:sp>
        <p:nvSpPr>
          <p:cNvPr id="10" name="CB10"/>
          <p:cNvSpPr/>
          <p:nvPr/>
        </p:nvSpPr>
        <p:spPr>
          <a:xfrm>
            <a:off x="2171480" y="1097280"/>
            <a:ext cx="1680000" cy="39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11" name="CT10"/>
          <p:cNvSpPr txSpPr="1"/>
          <p:nvPr/>
        </p:nvSpPr>
        <p:spPr>
          <a:xfrm>
            <a:off x="2292440" y="1172280"/>
            <a:ext cx="14380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30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simulator/</a:t>
            </a:r>
            <a:endParaRPr lang="vi-VN" sz="900" dirty="0"/>
          </a:p>
          <a:p>
            <a:pPr marL="0" indent="0" algn="l">
              <a:buNone/>
            </a:pPr>
            <a:r>
              <a:rPr lang="vi-VN" sz="90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orchestration</a:t>
            </a:r>
            <a:endParaRPr lang="vi-VN" sz="900" dirty="0"/>
          </a:p>
        </p:txBody>
      </p:sp>
      <p:sp>
        <p:nvSpPr>
          <p:cNvPr id="12" name="CS10"/>
          <p:cNvSpPr/>
          <p:nvPr/>
        </p:nvSpPr>
        <p:spPr>
          <a:xfrm>
            <a:off x="2292440" y="1537280"/>
            <a:ext cx="1438080" cy="120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13" name="CBody10"/>
          <p:cNvSpPr txSpPr="1"/>
          <p:nvPr/>
        </p:nvSpPr>
        <p:spPr>
          <a:xfrm>
            <a:off x="2292440" y="1567280"/>
            <a:ext cx="1438080" cy="3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flight_agent.py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loop chinh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frames to Ceph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publish_retrain_event()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 matrices</a:t>
            </a:r>
            <a:endParaRPr lang="vi-VN" sz="900" dirty="0"/>
          </a:p>
        </p:txBody>
      </p:sp>
      <p:sp>
        <p:nvSpPr>
          <p:cNvPr id="14" name="CB14"/>
          <p:cNvSpPr/>
          <p:nvPr/>
        </p:nvSpPr>
        <p:spPr>
          <a:xfrm>
            <a:off x="3931480" y="1097280"/>
            <a:ext cx="1680000" cy="39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15" name="CT14"/>
          <p:cNvSpPr txSpPr="1"/>
          <p:nvPr/>
        </p:nvSpPr>
        <p:spPr>
          <a:xfrm>
            <a:off x="4052440" y="1172280"/>
            <a:ext cx="14380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30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training/</a:t>
            </a:r>
            <a:endParaRPr lang="vi-VN" sz="900" dirty="0"/>
          </a:p>
          <a:p>
            <a:pPr marL="0" indent="0" algn="l">
              <a:buNone/>
            </a:pPr>
            <a:r>
              <a:rPr lang="vi-VN" sz="90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Training Job</a:t>
            </a:r>
            <a:endParaRPr lang="vi-VN" sz="900" dirty="0"/>
          </a:p>
        </p:txBody>
      </p:sp>
      <p:sp>
        <p:nvSpPr>
          <p:cNvPr id="16" name="CS14"/>
          <p:cNvSpPr/>
          <p:nvPr/>
        </p:nvSpPr>
        <p:spPr>
          <a:xfrm>
            <a:off x="4052440" y="1537280"/>
            <a:ext cx="1438080" cy="120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17" name="CBody14"/>
          <p:cNvSpPr txSpPr="1"/>
          <p:nvPr/>
        </p:nvSpPr>
        <p:spPr>
          <a:xfrm>
            <a:off x="4052440" y="1567280"/>
            <a:ext cx="1438080" cy="3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job.py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NLResNet class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train_loop(level, frames)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logging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k8s/training_job.yaml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manifest · GPU request</a:t>
            </a:r>
            <a:endParaRPr lang="vi-VN" sz="900" dirty="0"/>
          </a:p>
        </p:txBody>
      </p:sp>
      <p:sp>
        <p:nvSpPr>
          <p:cNvPr id="18" name="CB18"/>
          <p:cNvSpPr/>
          <p:nvPr/>
        </p:nvSpPr>
        <p:spPr>
          <a:xfrm>
            <a:off x="5691480" y="1097280"/>
            <a:ext cx="1680000" cy="39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19" name="CT18"/>
          <p:cNvSpPr txSpPr="1"/>
          <p:nvPr/>
        </p:nvSpPr>
        <p:spPr>
          <a:xfrm>
            <a:off x="5812440" y="1172280"/>
            <a:ext cx="14380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30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consumers/</a:t>
            </a:r>
            <a:endParaRPr lang="vi-VN" sz="900" dirty="0"/>
          </a:p>
          <a:p>
            <a:pPr marL="0" indent="0" algn="l">
              <a:buNone/>
            </a:pPr>
            <a:r>
              <a:rPr lang="vi-VN" sz="90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Consumer</a:t>
            </a:r>
            <a:endParaRPr lang="vi-VN" sz="900" dirty="0"/>
          </a:p>
        </p:txBody>
      </p:sp>
      <p:sp>
        <p:nvSpPr>
          <p:cNvPr id="20" name="CS18"/>
          <p:cNvSpPr/>
          <p:nvPr/>
        </p:nvSpPr>
        <p:spPr>
          <a:xfrm>
            <a:off x="5812440" y="1537280"/>
            <a:ext cx="1438080" cy="120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21" name="CBody18"/>
          <p:cNvSpPr txSpPr="1"/>
          <p:nvPr/>
        </p:nvSpPr>
        <p:spPr>
          <a:xfrm>
            <a:off x="5812440" y="1567280"/>
            <a:ext cx="1438080" cy="3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model_trainer.py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topic retrain-events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Deserialize event JSON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→ K8s Job</a:t>
            </a:r>
            <a:endParaRPr lang="vi-VN" sz="900" dirty="0"/>
          </a:p>
        </p:txBody>
      </p:sp>
      <p:sp>
        <p:nvSpPr>
          <p:cNvPr id="22" name="CB22"/>
          <p:cNvSpPr/>
          <p:nvPr/>
        </p:nvSpPr>
        <p:spPr>
          <a:xfrm>
            <a:off x="7451480" y="1097280"/>
            <a:ext cx="1680000" cy="390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23" name="CT22"/>
          <p:cNvSpPr txSpPr="1"/>
          <p:nvPr/>
        </p:nvSpPr>
        <p:spPr>
          <a:xfrm>
            <a:off x="7572440" y="1172280"/>
            <a:ext cx="143808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30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infra/ + config/</a:t>
            </a:r>
            <a:endParaRPr lang="vi-VN" sz="900" dirty="0"/>
          </a:p>
          <a:p>
            <a:pPr marL="0" indent="0" algn="l">
              <a:buNone/>
            </a:pPr>
            <a:r>
              <a:rPr lang="vi-VN" sz="900" dirty="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vi-VN" sz="900" dirty="0"/>
          </a:p>
        </p:txBody>
      </p:sp>
      <p:sp>
        <p:nvSpPr>
          <p:cNvPr id="24" name="CS22"/>
          <p:cNvSpPr/>
          <p:nvPr/>
        </p:nvSpPr>
        <p:spPr>
          <a:xfrm>
            <a:off x="7572440" y="1537280"/>
            <a:ext cx="1438080" cy="120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25" name="CBody22"/>
          <p:cNvSpPr txSpPr="1"/>
          <p:nvPr/>
        </p:nvSpPr>
        <p:spPr>
          <a:xfrm>
            <a:off x="7572440" y="1567280"/>
            <a:ext cx="1438080" cy="3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kafka_producer.py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publish_retrain_event()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s3_client.py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upload_frame(), checkpoint()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10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settings.py</a:t>
            </a:r>
            <a:endParaRPr lang="vi-VN" sz="900" dirty="0"/>
          </a:p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FLIGHT_TERRAIN · thresholds</a:t>
            </a:r>
            <a:endParaRPr lang="vi-VN" sz="900" dirty="0"/>
          </a:p>
        </p:txBody>
      </p:sp>
      <p:sp>
        <p:nvSpPr>
          <p:cNvPr id="26" name="Bot"/>
          <p:cNvSpPr/>
          <p:nvPr/>
        </p:nvSpPr>
        <p:spPr>
          <a:xfrm>
            <a:off x="411480" y="5000000"/>
            <a:ext cx="8321040" cy="100000"/>
          </a:xfrm>
          <a:prstGeom prst="rect">
            <a:avLst/>
          </a:prstGeom>
          <a:solidFill>
            <a:srgbClr val="FFF5F5"/>
          </a:solidFill>
          <a:ln w="9525">
            <a:solidFill>
              <a:srgbClr val="FFCDD2"/>
            </a:solidFill>
            <a:prstDash val="solid"/>
          </a:ln>
        </p:spPr>
      </p:sp>
      <p:sp>
        <p:nvSpPr>
          <p:cNvPr id="27" name="BT"/>
          <p:cNvSpPr txSpPr="1"/>
          <p:nvPr/>
        </p:nvSpPr>
        <p:spPr>
          <a:xfrm>
            <a:off x="411480" y="5000000"/>
            <a:ext cx="8321040" cy="1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uav-pipeline/  ·  Python 3.10  ·  ~800 LOC  ·  5 modules  ·  12 source files  ·  docker-compose ready</a:t>
            </a:r>
            <a:endParaRPr lang="vi-VN" sz="900" dirty="0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low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9525">
            <a:solidFill>
              <a:srgbClr val="B71C1C"/>
            </a:solidFill>
            <a:prstDash val="solid"/>
          </a:ln>
        </p:spPr>
      </p:sp>
      <p:sp>
        <p:nvSpPr>
          <p:cNvPr id="3" name="HTitle"/>
          <p:cNvSpPr txSpPr="1"/>
          <p:nvPr/>
        </p:nvSpPr>
        <p:spPr>
          <a:xfrm>
            <a:off x="411480" y="109728"/>
            <a:ext cx="77724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2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Luong Hoat dong Chi tiet</a:t>
            </a:r>
            <a:endParaRPr lang="vi-VN" sz="900" dirty="0"/>
          </a:p>
        </p:txBody>
      </p:sp>
      <p:sp>
        <p:nvSpPr>
          <p:cNvPr id="4" name="HRight"/>
          <p:cNvSpPr txSpPr="1"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Pipeline · VDT 2026</a:t>
            </a:r>
            <a:endParaRPr lang="vi-VN" sz="900" dirty="0"/>
          </a:p>
        </p:txBody>
      </p:sp>
      <p:sp>
        <p:nvSpPr>
          <p:cNvPr id="5" name="HSub"/>
          <p:cNvSpPr txSpPr="1"/>
          <p:nvPr/>
        </p:nvSpPr>
        <p:spPr>
          <a:xfrm>
            <a:off x="411480" y="690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loop · Training flow (chay nen tren Cloud)</a:t>
            </a:r>
            <a:endParaRPr lang="vi-VN" sz="900" dirty="0"/>
          </a:p>
        </p:txBody>
      </p:sp>
      <p:sp>
        <p:nvSpPr>
          <p:cNvPr id="6" name="LBG"/>
          <p:cNvSpPr/>
          <p:nvPr/>
        </p:nvSpPr>
        <p:spPr>
          <a:xfrm>
            <a:off x="411480" y="1097280"/>
            <a:ext cx="4300000" cy="39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7" name="LT2"/>
          <p:cNvSpPr txSpPr="1"/>
          <p:nvPr/>
        </p:nvSpPr>
        <p:spPr>
          <a:xfrm>
            <a:off x="532440" y="1167280"/>
            <a:ext cx="4058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20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Loop  (lap lien tuc khi bay)</a:t>
            </a:r>
            <a:endParaRPr lang="vi-VN" sz="900" dirty="0"/>
          </a:p>
        </p:txBody>
      </p:sp>
      <p:sp>
        <p:nvSpPr>
          <p:cNvPr id="8" name="LS2"/>
          <p:cNvSpPr/>
          <p:nvPr/>
        </p:nvSpPr>
        <p:spPr>
          <a:xfrm>
            <a:off x="532440" y="1447280"/>
            <a:ext cx="4058080" cy="120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9" name="FN0"/>
          <p:cNvSpPr/>
          <p:nvPr/>
        </p:nvSpPr>
        <p:spPr>
          <a:xfrm>
            <a:off x="532440" y="1487280"/>
            <a:ext cx="300000" cy="360000"/>
          </a:xfrm>
          <a:prstGeom prst="roundRect">
            <a:avLst>
              <a:gd name="adj" fmla="val 50000"/>
            </a:avLst>
          </a:prstGeom>
          <a:solidFill>
            <a:srgbClr val="B71C1C"/>
          </a:solidFill>
          <a:ln/>
        </p:spPr>
      </p:sp>
      <p:sp>
        <p:nvSpPr>
          <p:cNvPr id="10" name="FNT0"/>
          <p:cNvSpPr txSpPr="1"/>
          <p:nvPr/>
        </p:nvSpPr>
        <p:spPr>
          <a:xfrm>
            <a:off x="532440" y="1487280"/>
            <a:ext cx="3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1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vi-VN" sz="900" dirty="0"/>
          </a:p>
        </p:txBody>
      </p:sp>
      <p:sp>
        <p:nvSpPr>
          <p:cNvPr id="11" name="FN20"/>
          <p:cNvSpPr txSpPr="1"/>
          <p:nvPr/>
        </p:nvSpPr>
        <p:spPr>
          <a:xfrm>
            <a:off x="861480" y="1512280"/>
            <a:ext cx="37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_get_mock_frames(terrain)</a:t>
            </a:r>
            <a:endParaRPr lang="vi-VN" sz="900" dirty="0"/>
          </a:p>
        </p:txBody>
      </p:sp>
      <p:sp>
        <p:nvSpPr>
          <p:cNvPr id="12" name="FD0"/>
          <p:cNvSpPr txSpPr="1"/>
          <p:nvPr/>
        </p:nvSpPr>
        <p:spPr>
          <a:xfrm>
            <a:off x="861480" y="1697280"/>
            <a:ext cx="37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frame theo terrain tu mock-data/</a:t>
            </a:r>
            <a:endParaRPr lang="vi-VN" sz="900" dirty="0"/>
          </a:p>
        </p:txBody>
      </p:sp>
      <p:sp>
        <p:nvSpPr>
          <p:cNvPr id="13" name="FN1"/>
          <p:cNvSpPr/>
          <p:nvPr/>
        </p:nvSpPr>
        <p:spPr>
          <a:xfrm>
            <a:off x="532440" y="1932280"/>
            <a:ext cx="300000" cy="360000"/>
          </a:xfrm>
          <a:prstGeom prst="roundRect">
            <a:avLst>
              <a:gd name="adj" fmla="val 50000"/>
            </a:avLst>
          </a:prstGeom>
          <a:solidFill>
            <a:srgbClr val="B71C1C"/>
          </a:solidFill>
          <a:ln/>
        </p:spPr>
      </p:sp>
      <p:sp>
        <p:nvSpPr>
          <p:cNvPr id="14" name="FNT1"/>
          <p:cNvSpPr txSpPr="1"/>
          <p:nvPr/>
        </p:nvSpPr>
        <p:spPr>
          <a:xfrm>
            <a:off x="532440" y="1932280"/>
            <a:ext cx="3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1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vi-VN" sz="900" dirty="0"/>
          </a:p>
        </p:txBody>
      </p:sp>
      <p:sp>
        <p:nvSpPr>
          <p:cNvPr id="15" name="FN21"/>
          <p:cNvSpPr txSpPr="1"/>
          <p:nvPr/>
        </p:nvSpPr>
        <p:spPr>
          <a:xfrm>
            <a:off x="861480" y="1957280"/>
            <a:ext cx="37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extractor.extract_features(frame)</a:t>
            </a:r>
            <a:endParaRPr lang="vi-VN" sz="900" dirty="0"/>
          </a:p>
        </p:txBody>
      </p:sp>
      <p:sp>
        <p:nvSpPr>
          <p:cNvPr id="16" name="FD1"/>
          <p:cNvSpPr txSpPr="1"/>
          <p:nvPr/>
        </p:nvSpPr>
        <p:spPr>
          <a:xfrm>
            <a:off x="861480" y="2142280"/>
            <a:ext cx="37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forward → 512-d vector v_t</a:t>
            </a:r>
            <a:endParaRPr lang="vi-VN" sz="900" dirty="0"/>
          </a:p>
        </p:txBody>
      </p:sp>
      <p:sp>
        <p:nvSpPr>
          <p:cNvPr id="17" name="FN2"/>
          <p:cNvSpPr/>
          <p:nvPr/>
        </p:nvSpPr>
        <p:spPr>
          <a:xfrm>
            <a:off x="532440" y="2377280"/>
            <a:ext cx="300000" cy="360000"/>
          </a:xfrm>
          <a:prstGeom prst="roundRect">
            <a:avLst>
              <a:gd name="adj" fmla="val 50000"/>
            </a:avLst>
          </a:prstGeom>
          <a:solidFill>
            <a:srgbClr val="B71C1C"/>
          </a:solidFill>
          <a:ln/>
        </p:spPr>
      </p:sp>
      <p:sp>
        <p:nvSpPr>
          <p:cNvPr id="18" name="FNT2"/>
          <p:cNvSpPr txSpPr="1"/>
          <p:nvPr/>
        </p:nvSpPr>
        <p:spPr>
          <a:xfrm>
            <a:off x="532440" y="2377280"/>
            <a:ext cx="3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1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vi-VN" sz="900" dirty="0"/>
          </a:p>
        </p:txBody>
      </p:sp>
      <p:sp>
        <p:nvSpPr>
          <p:cNvPr id="19" name="FN22"/>
          <p:cNvSpPr txSpPr="1"/>
          <p:nvPr/>
        </p:nvSpPr>
        <p:spPr>
          <a:xfrm>
            <a:off x="861480" y="2402280"/>
            <a:ext cx="37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scheduler.decide(features, frame_id)</a:t>
            </a:r>
            <a:endParaRPr lang="vi-VN" sz="900" dirty="0"/>
          </a:p>
        </p:txBody>
      </p:sp>
      <p:sp>
        <p:nvSpPr>
          <p:cNvPr id="20" name="FD2"/>
          <p:cNvSpPr txSpPr="1"/>
          <p:nvPr/>
        </p:nvSpPr>
        <p:spPr>
          <a:xfrm>
            <a:off x="861480" y="2587280"/>
            <a:ext cx="37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Tinh delta, drift_acc → classify level</a:t>
            </a:r>
            <a:endParaRPr lang="vi-VN" sz="900" dirty="0"/>
          </a:p>
        </p:txBody>
      </p:sp>
      <p:sp>
        <p:nvSpPr>
          <p:cNvPr id="21" name="FN3"/>
          <p:cNvSpPr/>
          <p:nvPr/>
        </p:nvSpPr>
        <p:spPr>
          <a:xfrm>
            <a:off x="532440" y="2822280"/>
            <a:ext cx="300000" cy="360000"/>
          </a:xfrm>
          <a:prstGeom prst="roundRect">
            <a:avLst>
              <a:gd name="adj" fmla="val 50000"/>
            </a:avLst>
          </a:prstGeom>
          <a:solidFill>
            <a:srgbClr val="B71C1C"/>
          </a:solidFill>
          <a:ln/>
        </p:spPr>
      </p:sp>
      <p:sp>
        <p:nvSpPr>
          <p:cNvPr id="22" name="FNT3"/>
          <p:cNvSpPr txSpPr="1"/>
          <p:nvPr/>
        </p:nvSpPr>
        <p:spPr>
          <a:xfrm>
            <a:off x="532440" y="2822280"/>
            <a:ext cx="3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1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vi-VN" sz="900" dirty="0"/>
          </a:p>
        </p:txBody>
      </p:sp>
      <p:sp>
        <p:nvSpPr>
          <p:cNvPr id="23" name="FN23"/>
          <p:cNvSpPr txSpPr="1"/>
          <p:nvPr/>
        </p:nvSpPr>
        <p:spPr>
          <a:xfrm>
            <a:off x="861480" y="2847280"/>
            <a:ext cx="37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memory.update(cur, key)</a:t>
            </a:r>
            <a:endParaRPr lang="vi-VN" sz="900" dirty="0"/>
          </a:p>
        </p:txBody>
      </p:sp>
      <p:sp>
        <p:nvSpPr>
          <p:cNvPr id="24" name="FD3"/>
          <p:cNvSpPr txSpPr="1"/>
          <p:nvPr/>
        </p:nvSpPr>
        <p:spPr>
          <a:xfrm>
            <a:off x="861480" y="3032280"/>
            <a:ext cx="37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Hebbian update M_t, M_med, M_slow</a:t>
            </a:r>
            <a:endParaRPr lang="vi-VN" sz="900" dirty="0"/>
          </a:p>
        </p:txBody>
      </p:sp>
      <p:sp>
        <p:nvSpPr>
          <p:cNvPr id="25" name="FN4"/>
          <p:cNvSpPr/>
          <p:nvPr/>
        </p:nvSpPr>
        <p:spPr>
          <a:xfrm>
            <a:off x="532440" y="3267280"/>
            <a:ext cx="300000" cy="360000"/>
          </a:xfrm>
          <a:prstGeom prst="roundRect">
            <a:avLst>
              <a:gd name="adj" fmla="val 50000"/>
            </a:avLst>
          </a:prstGeom>
          <a:solidFill>
            <a:srgbClr val="B71C1C"/>
          </a:solidFill>
          <a:ln/>
        </p:spPr>
      </p:sp>
      <p:sp>
        <p:nvSpPr>
          <p:cNvPr id="26" name="FNT4"/>
          <p:cNvSpPr txSpPr="1"/>
          <p:nvPr/>
        </p:nvSpPr>
        <p:spPr>
          <a:xfrm>
            <a:off x="532440" y="3267280"/>
            <a:ext cx="3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1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vi-VN" sz="900" dirty="0"/>
          </a:p>
        </p:txBody>
      </p:sp>
      <p:sp>
        <p:nvSpPr>
          <p:cNvPr id="27" name="FN24"/>
          <p:cNvSpPr txSpPr="1"/>
          <p:nvPr/>
        </p:nvSpPr>
        <p:spPr>
          <a:xfrm>
            <a:off x="861480" y="3292280"/>
            <a:ext cx="37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extractor.predict_action(combined)</a:t>
            </a:r>
            <a:endParaRPr lang="vi-VN" sz="900" dirty="0"/>
          </a:p>
        </p:txBody>
      </p:sp>
      <p:sp>
        <p:nvSpPr>
          <p:cNvPr id="28" name="FD4"/>
          <p:cNvSpPr txSpPr="1"/>
          <p:nvPr/>
        </p:nvSpPr>
        <p:spPr>
          <a:xfrm>
            <a:off x="861480" y="3477280"/>
            <a:ext cx="37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= M×v + v → FC → action</a:t>
            </a:r>
            <a:endParaRPr lang="vi-VN" sz="900" dirty="0"/>
          </a:p>
        </p:txBody>
      </p:sp>
      <p:sp>
        <p:nvSpPr>
          <p:cNvPr id="29" name="FN5"/>
          <p:cNvSpPr/>
          <p:nvPr/>
        </p:nvSpPr>
        <p:spPr>
          <a:xfrm>
            <a:off x="532440" y="3712280"/>
            <a:ext cx="300000" cy="360000"/>
          </a:xfrm>
          <a:prstGeom prst="roundRect">
            <a:avLst>
              <a:gd name="adj" fmla="val 50000"/>
            </a:avLst>
          </a:prstGeom>
          <a:solidFill>
            <a:srgbClr val="B71C1C"/>
          </a:solidFill>
          <a:ln/>
        </p:spPr>
      </p:sp>
      <p:sp>
        <p:nvSpPr>
          <p:cNvPr id="30" name="FNT5"/>
          <p:cNvSpPr txSpPr="1"/>
          <p:nvPr/>
        </p:nvSpPr>
        <p:spPr>
          <a:xfrm>
            <a:off x="532440" y="3712280"/>
            <a:ext cx="3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1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vi-VN" sz="900" dirty="0"/>
          </a:p>
        </p:txBody>
      </p:sp>
      <p:sp>
        <p:nvSpPr>
          <p:cNvPr id="31" name="FN25"/>
          <p:cNvSpPr txSpPr="1"/>
          <p:nvPr/>
        </p:nvSpPr>
        <p:spPr>
          <a:xfrm>
            <a:off x="861480" y="3737280"/>
            <a:ext cx="37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[slow/medium] upload to Ceph</a:t>
            </a:r>
            <a:endParaRPr lang="vi-VN" sz="900" dirty="0"/>
          </a:p>
        </p:txBody>
      </p:sp>
      <p:sp>
        <p:nvSpPr>
          <p:cNvPr id="32" name="FD5"/>
          <p:cNvSpPr txSpPr="1"/>
          <p:nvPr/>
        </p:nvSpPr>
        <p:spPr>
          <a:xfrm>
            <a:off x="861480" y="3922280"/>
            <a:ext cx="37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frame JPEG + checkpoint JSON</a:t>
            </a:r>
            <a:endParaRPr lang="vi-VN" sz="900" dirty="0"/>
          </a:p>
        </p:txBody>
      </p:sp>
      <p:sp>
        <p:nvSpPr>
          <p:cNvPr id="33" name="FN6"/>
          <p:cNvSpPr/>
          <p:nvPr/>
        </p:nvSpPr>
        <p:spPr>
          <a:xfrm>
            <a:off x="532440" y="4157280"/>
            <a:ext cx="300000" cy="360000"/>
          </a:xfrm>
          <a:prstGeom prst="roundRect">
            <a:avLst>
              <a:gd name="adj" fmla="val 50000"/>
            </a:avLst>
          </a:prstGeom>
          <a:solidFill>
            <a:srgbClr val="B71C1C"/>
          </a:solidFill>
          <a:ln/>
        </p:spPr>
      </p:sp>
      <p:sp>
        <p:nvSpPr>
          <p:cNvPr id="34" name="FNT6"/>
          <p:cNvSpPr txSpPr="1"/>
          <p:nvPr/>
        </p:nvSpPr>
        <p:spPr>
          <a:xfrm>
            <a:off x="532440" y="4157280"/>
            <a:ext cx="3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1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vi-VN" sz="900" dirty="0"/>
          </a:p>
        </p:txBody>
      </p:sp>
      <p:sp>
        <p:nvSpPr>
          <p:cNvPr id="35" name="FN26"/>
          <p:cNvSpPr txSpPr="1"/>
          <p:nvPr/>
        </p:nvSpPr>
        <p:spPr>
          <a:xfrm>
            <a:off x="861480" y="4182280"/>
            <a:ext cx="37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publish_retrain_event(kafka)</a:t>
            </a:r>
            <a:endParaRPr lang="vi-VN" sz="900" dirty="0"/>
          </a:p>
        </p:txBody>
      </p:sp>
      <p:sp>
        <p:nvSpPr>
          <p:cNvPr id="36" name="FD6"/>
          <p:cNvSpPr txSpPr="1"/>
          <p:nvPr/>
        </p:nvSpPr>
        <p:spPr>
          <a:xfrm>
            <a:off x="861480" y="4367280"/>
            <a:ext cx="37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async event → khong block UAV</a:t>
            </a:r>
            <a:endParaRPr lang="vi-VN" sz="900" dirty="0"/>
          </a:p>
        </p:txBody>
      </p:sp>
      <p:sp>
        <p:nvSpPr>
          <p:cNvPr id="37" name="FN7"/>
          <p:cNvSpPr/>
          <p:nvPr/>
        </p:nvSpPr>
        <p:spPr>
          <a:xfrm>
            <a:off x="532440" y="4602280"/>
            <a:ext cx="300000" cy="360000"/>
          </a:xfrm>
          <a:prstGeom prst="roundRect">
            <a:avLst>
              <a:gd name="adj" fmla="val 50000"/>
            </a:avLst>
          </a:prstGeom>
          <a:solidFill>
            <a:srgbClr val="B71C1C"/>
          </a:solidFill>
          <a:ln/>
        </p:spPr>
      </p:sp>
      <p:sp>
        <p:nvSpPr>
          <p:cNvPr id="38" name="FNT7"/>
          <p:cNvSpPr txSpPr="1"/>
          <p:nvPr/>
        </p:nvSpPr>
        <p:spPr>
          <a:xfrm>
            <a:off x="532440" y="4602280"/>
            <a:ext cx="3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1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vi-VN" sz="900" dirty="0"/>
          </a:p>
        </p:txBody>
      </p:sp>
      <p:sp>
        <p:nvSpPr>
          <p:cNvPr id="39" name="FN27"/>
          <p:cNvSpPr txSpPr="1"/>
          <p:nvPr/>
        </p:nvSpPr>
        <p:spPr>
          <a:xfrm>
            <a:off x="861480" y="4627280"/>
            <a:ext cx="37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[every 50 frames] memory.save()</a:t>
            </a:r>
            <a:endParaRPr lang="vi-VN" sz="900" dirty="0"/>
          </a:p>
        </p:txBody>
      </p:sp>
      <p:sp>
        <p:nvSpPr>
          <p:cNvPr id="40" name="FD7"/>
          <p:cNvSpPr txSpPr="1"/>
          <p:nvPr/>
        </p:nvSpPr>
        <p:spPr>
          <a:xfrm>
            <a:off x="861480" y="4812280"/>
            <a:ext cx="37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M matrices trung gian vao Ceph</a:t>
            </a:r>
            <a:endParaRPr lang="vi-VN" sz="900" dirty="0"/>
          </a:p>
        </p:txBody>
      </p:sp>
      <p:sp>
        <p:nvSpPr>
          <p:cNvPr id="41" name="RBG2"/>
          <p:cNvSpPr/>
          <p:nvPr/>
        </p:nvSpPr>
        <p:spPr>
          <a:xfrm>
            <a:off x="4944520" y="1097280"/>
            <a:ext cx="4200000" cy="395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42" name="RT2"/>
          <p:cNvSpPr txSpPr="1"/>
          <p:nvPr/>
        </p:nvSpPr>
        <p:spPr>
          <a:xfrm>
            <a:off x="5065480" y="1167280"/>
            <a:ext cx="39580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200" dirty="0" b="1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Flow  (chay nen tren Cloud)</a:t>
            </a:r>
            <a:endParaRPr lang="vi-VN" sz="900" dirty="0"/>
          </a:p>
        </p:txBody>
      </p:sp>
      <p:sp>
        <p:nvSpPr>
          <p:cNvPr id="43" name="RS2"/>
          <p:cNvSpPr/>
          <p:nvPr/>
        </p:nvSpPr>
        <p:spPr>
          <a:xfrm>
            <a:off x="5065480" y="1447280"/>
            <a:ext cx="3958080" cy="120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44" name="TN0"/>
          <p:cNvSpPr/>
          <p:nvPr/>
        </p:nvSpPr>
        <p:spPr>
          <a:xfrm>
            <a:off x="5065480" y="1487280"/>
            <a:ext cx="300000" cy="3600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45" name="TNT0"/>
          <p:cNvSpPr txSpPr="1"/>
          <p:nvPr/>
        </p:nvSpPr>
        <p:spPr>
          <a:xfrm>
            <a:off x="5065480" y="1487280"/>
            <a:ext cx="3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1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vi-VN" sz="900" dirty="0"/>
          </a:p>
        </p:txBody>
      </p:sp>
      <p:sp>
        <p:nvSpPr>
          <p:cNvPr id="46" name="TN20"/>
          <p:cNvSpPr txSpPr="1"/>
          <p:nvPr/>
        </p:nvSpPr>
        <p:spPr>
          <a:xfrm>
            <a:off x="5394520" y="1512280"/>
            <a:ext cx="36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Consumer.poll()</a:t>
            </a:r>
            <a:endParaRPr lang="vi-VN" sz="900" dirty="0"/>
          </a:p>
        </p:txBody>
      </p:sp>
      <p:sp>
        <p:nvSpPr>
          <p:cNvPr id="47" name="TD0"/>
          <p:cNvSpPr txSpPr="1"/>
          <p:nvPr/>
        </p:nvSpPr>
        <p:spPr>
          <a:xfrm>
            <a:off x="5394520" y="1697280"/>
            <a:ext cx="36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 event tu Kafka topic retrain-events</a:t>
            </a:r>
            <a:endParaRPr lang="vi-VN" sz="900" dirty="0"/>
          </a:p>
        </p:txBody>
      </p:sp>
      <p:sp>
        <p:nvSpPr>
          <p:cNvPr id="48" name="TN1"/>
          <p:cNvSpPr/>
          <p:nvPr/>
        </p:nvSpPr>
        <p:spPr>
          <a:xfrm>
            <a:off x="5065480" y="1932280"/>
            <a:ext cx="300000" cy="3600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49" name="TNT1"/>
          <p:cNvSpPr txSpPr="1"/>
          <p:nvPr/>
        </p:nvSpPr>
        <p:spPr>
          <a:xfrm>
            <a:off x="5065480" y="1932280"/>
            <a:ext cx="3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1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vi-VN" sz="900" dirty="0"/>
          </a:p>
        </p:txBody>
      </p:sp>
      <p:sp>
        <p:nvSpPr>
          <p:cNvPr id="50" name="TN21"/>
          <p:cNvSpPr txSpPr="1"/>
          <p:nvPr/>
        </p:nvSpPr>
        <p:spPr>
          <a:xfrm>
            <a:off x="5394520" y="1957280"/>
            <a:ext cx="36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training_job.yaml</a:t>
            </a:r>
            <a:endParaRPr lang="vi-VN" sz="900" dirty="0"/>
          </a:p>
        </p:txBody>
      </p:sp>
      <p:sp>
        <p:nvSpPr>
          <p:cNvPr id="51" name="TD1"/>
          <p:cNvSpPr txSpPr="1"/>
          <p:nvPr/>
        </p:nvSpPr>
        <p:spPr>
          <a:xfrm>
            <a:off x="5394520" y="2142280"/>
            <a:ext cx="36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K8s Pod voi env level + terrain</a:t>
            </a:r>
            <a:endParaRPr lang="vi-VN" sz="900" dirty="0"/>
          </a:p>
        </p:txBody>
      </p:sp>
      <p:sp>
        <p:nvSpPr>
          <p:cNvPr id="52" name="TN2"/>
          <p:cNvSpPr/>
          <p:nvPr/>
        </p:nvSpPr>
        <p:spPr>
          <a:xfrm>
            <a:off x="5065480" y="2377280"/>
            <a:ext cx="300000" cy="3600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53" name="TNT2"/>
          <p:cNvSpPr txSpPr="1"/>
          <p:nvPr/>
        </p:nvSpPr>
        <p:spPr>
          <a:xfrm>
            <a:off x="5065480" y="2377280"/>
            <a:ext cx="3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1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vi-VN" sz="900" dirty="0"/>
          </a:p>
        </p:txBody>
      </p:sp>
      <p:sp>
        <p:nvSpPr>
          <p:cNvPr id="54" name="TN22"/>
          <p:cNvSpPr txSpPr="1"/>
          <p:nvPr/>
        </p:nvSpPr>
        <p:spPr>
          <a:xfrm>
            <a:off x="5394520" y="2402280"/>
            <a:ext cx="36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job.py: load checkpoint</a:t>
            </a:r>
            <a:endParaRPr lang="vi-VN" sz="900" dirty="0"/>
          </a:p>
        </p:txBody>
      </p:sp>
      <p:sp>
        <p:nvSpPr>
          <p:cNvPr id="55" name="TD2"/>
          <p:cNvSpPr txSpPr="1"/>
          <p:nvPr/>
        </p:nvSpPr>
        <p:spPr>
          <a:xfrm>
            <a:off x="5394520" y="2587280"/>
            <a:ext cx="36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level tu checkpoint JSON tu Ceph</a:t>
            </a:r>
            <a:endParaRPr lang="vi-VN" sz="900" dirty="0"/>
          </a:p>
        </p:txBody>
      </p:sp>
      <p:sp>
        <p:nvSpPr>
          <p:cNvPr id="56" name="TN3"/>
          <p:cNvSpPr/>
          <p:nvPr/>
        </p:nvSpPr>
        <p:spPr>
          <a:xfrm>
            <a:off x="5065480" y="2822280"/>
            <a:ext cx="300000" cy="3600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57" name="TNT3"/>
          <p:cNvSpPr txSpPr="1"/>
          <p:nvPr/>
        </p:nvSpPr>
        <p:spPr>
          <a:xfrm>
            <a:off x="5065480" y="2822280"/>
            <a:ext cx="3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1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vi-VN" sz="900" dirty="0"/>
          </a:p>
        </p:txBody>
      </p:sp>
      <p:sp>
        <p:nvSpPr>
          <p:cNvPr id="58" name="TN23"/>
          <p:cNvSpPr txSpPr="1"/>
          <p:nvPr/>
        </p:nvSpPr>
        <p:spPr>
          <a:xfrm>
            <a:off x="5394520" y="2847280"/>
            <a:ext cx="36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 matrices tu Ceph</a:t>
            </a:r>
            <a:endParaRPr lang="vi-VN" sz="900" dirty="0"/>
          </a:p>
        </p:txBody>
      </p:sp>
      <p:sp>
        <p:nvSpPr>
          <p:cNvPr id="59" name="TD3"/>
          <p:cNvSpPr txSpPr="1"/>
          <p:nvPr/>
        </p:nvSpPr>
        <p:spPr>
          <a:xfrm>
            <a:off x="5394520" y="3032280"/>
            <a:ext cx="36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fast-weight-state/terrain_t/latest.pt</a:t>
            </a:r>
            <a:endParaRPr lang="vi-VN" sz="900" dirty="0"/>
          </a:p>
        </p:txBody>
      </p:sp>
      <p:sp>
        <p:nvSpPr>
          <p:cNvPr id="60" name="TN4"/>
          <p:cNvSpPr/>
          <p:nvPr/>
        </p:nvSpPr>
        <p:spPr>
          <a:xfrm>
            <a:off x="5065480" y="3267280"/>
            <a:ext cx="300000" cy="3600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61" name="TNT4"/>
          <p:cNvSpPr txSpPr="1"/>
          <p:nvPr/>
        </p:nvSpPr>
        <p:spPr>
          <a:xfrm>
            <a:off x="5065480" y="3267280"/>
            <a:ext cx="3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1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vi-VN" sz="900" dirty="0"/>
          </a:p>
        </p:txBody>
      </p:sp>
      <p:sp>
        <p:nvSpPr>
          <p:cNvPr id="62" name="TN24"/>
          <p:cNvSpPr txSpPr="1"/>
          <p:nvPr/>
        </p:nvSpPr>
        <p:spPr>
          <a:xfrm>
            <a:off x="5394520" y="3292280"/>
            <a:ext cx="36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model tu MLflow</a:t>
            </a:r>
            <a:endParaRPr lang="vi-VN" sz="900" dirty="0"/>
          </a:p>
        </p:txBody>
      </p:sp>
      <p:sp>
        <p:nvSpPr>
          <p:cNvPr id="63" name="TD4"/>
          <p:cNvSpPr txSpPr="1"/>
          <p:nvPr/>
        </p:nvSpPr>
        <p:spPr>
          <a:xfrm>
            <a:off x="5394520" y="3477280"/>
            <a:ext cx="36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mlflow-artifacts/{run_id}/uav-model/</a:t>
            </a:r>
            <a:endParaRPr lang="vi-VN" sz="900" dirty="0"/>
          </a:p>
        </p:txBody>
      </p:sp>
      <p:sp>
        <p:nvSpPr>
          <p:cNvPr id="64" name="TN5"/>
          <p:cNvSpPr/>
          <p:nvPr/>
        </p:nvSpPr>
        <p:spPr>
          <a:xfrm>
            <a:off x="5065480" y="3712280"/>
            <a:ext cx="300000" cy="3600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65" name="TNT5"/>
          <p:cNvSpPr txSpPr="1"/>
          <p:nvPr/>
        </p:nvSpPr>
        <p:spPr>
          <a:xfrm>
            <a:off x="5065480" y="3712280"/>
            <a:ext cx="3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1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vi-VN" sz="900" dirty="0"/>
          </a:p>
        </p:txBody>
      </p:sp>
      <p:sp>
        <p:nvSpPr>
          <p:cNvPr id="66" name="TN25"/>
          <p:cNvSpPr txSpPr="1"/>
          <p:nvPr/>
        </p:nvSpPr>
        <p:spPr>
          <a:xfrm>
            <a:off x="5394520" y="3737280"/>
            <a:ext cx="36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NLResNet(M_t,M_med,M_slow)</a:t>
            </a:r>
            <a:endParaRPr lang="vi-VN" sz="900" dirty="0"/>
          </a:p>
        </p:txBody>
      </p:sp>
      <p:sp>
        <p:nvSpPr>
          <p:cNvPr id="67" name="TD5"/>
          <p:cNvSpPr txSpPr="1"/>
          <p:nvPr/>
        </p:nvSpPr>
        <p:spPr>
          <a:xfrm>
            <a:off x="5394520" y="3922280"/>
            <a:ext cx="36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resnet + register buffers (not trained)</a:t>
            </a:r>
            <a:endParaRPr lang="vi-VN" sz="900" dirty="0"/>
          </a:p>
        </p:txBody>
      </p:sp>
      <p:sp>
        <p:nvSpPr>
          <p:cNvPr id="68" name="TN6"/>
          <p:cNvSpPr/>
          <p:nvPr/>
        </p:nvSpPr>
        <p:spPr>
          <a:xfrm>
            <a:off x="5065480" y="4157280"/>
            <a:ext cx="300000" cy="3600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69" name="TNT6"/>
          <p:cNvSpPr txSpPr="1"/>
          <p:nvPr/>
        </p:nvSpPr>
        <p:spPr>
          <a:xfrm>
            <a:off x="5065480" y="4157280"/>
            <a:ext cx="3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1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vi-VN" sz="900" dirty="0"/>
          </a:p>
        </p:txBody>
      </p:sp>
      <p:sp>
        <p:nvSpPr>
          <p:cNvPr id="70" name="TN26"/>
          <p:cNvSpPr txSpPr="1"/>
          <p:nvPr/>
        </p:nvSpPr>
        <p:spPr>
          <a:xfrm>
            <a:off x="5394520" y="4182280"/>
            <a:ext cx="36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train_loop(level, frames)</a:t>
            </a:r>
            <a:endParaRPr lang="vi-VN" sz="900" dirty="0"/>
          </a:p>
        </p:txBody>
      </p:sp>
      <p:sp>
        <p:nvSpPr>
          <p:cNvPr id="71" name="TD6"/>
          <p:cNvSpPr txSpPr="1"/>
          <p:nvPr/>
        </p:nvSpPr>
        <p:spPr>
          <a:xfrm>
            <a:off x="5394520" y="4367280"/>
            <a:ext cx="36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medium→FC only / slow→full backbone</a:t>
            </a:r>
            <a:endParaRPr lang="vi-VN" sz="900" dirty="0"/>
          </a:p>
        </p:txBody>
      </p:sp>
      <p:sp>
        <p:nvSpPr>
          <p:cNvPr id="72" name="TN7"/>
          <p:cNvSpPr/>
          <p:nvPr/>
        </p:nvSpPr>
        <p:spPr>
          <a:xfrm>
            <a:off x="5065480" y="4602280"/>
            <a:ext cx="300000" cy="36000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/>
        </p:spPr>
      </p:sp>
      <p:sp>
        <p:nvSpPr>
          <p:cNvPr id="73" name="TNT7"/>
          <p:cNvSpPr txSpPr="1"/>
          <p:nvPr/>
        </p:nvSpPr>
        <p:spPr>
          <a:xfrm>
            <a:off x="5065480" y="4602280"/>
            <a:ext cx="3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1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vi-VN" sz="900" dirty="0"/>
          </a:p>
        </p:txBody>
      </p:sp>
      <p:sp>
        <p:nvSpPr>
          <p:cNvPr id="74" name="TN27"/>
          <p:cNvSpPr txSpPr="1"/>
          <p:nvPr/>
        </p:nvSpPr>
        <p:spPr>
          <a:xfrm>
            <a:off x="5394520" y="4627280"/>
            <a:ext cx="362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mlflow.log + register_model()</a:t>
            </a:r>
            <a:endParaRPr lang="vi-VN" sz="900" dirty="0"/>
          </a:p>
        </p:txBody>
      </p:sp>
      <p:sp>
        <p:nvSpPr>
          <p:cNvPr id="75" name="TD7"/>
          <p:cNvSpPr txSpPr="1"/>
          <p:nvPr/>
        </p:nvSpPr>
        <p:spPr>
          <a:xfrm>
            <a:off x="5394520" y="4812280"/>
            <a:ext cx="362000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Luu ket qua, version moi → Staging</a:t>
            </a:r>
            <a:endParaRPr lang="vi-VN" sz="900" dirty="0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eatures"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 w="9525">
            <a:solidFill>
              <a:srgbClr val="B71C1C"/>
            </a:solidFill>
            <a:prstDash val="solid"/>
          </a:ln>
        </p:spPr>
      </p:sp>
      <p:sp>
        <p:nvSpPr>
          <p:cNvPr id="3" name="HTitle"/>
          <p:cNvSpPr txSpPr="1"/>
          <p:nvPr/>
        </p:nvSpPr>
        <p:spPr>
          <a:xfrm>
            <a:off x="411480" y="109728"/>
            <a:ext cx="77724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2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diem &amp; Thiet ke He thong</a:t>
            </a:r>
            <a:endParaRPr lang="vi-VN" sz="900" dirty="0"/>
          </a:p>
        </p:txBody>
      </p:sp>
      <p:sp>
        <p:nvSpPr>
          <p:cNvPr id="4" name="HRight"/>
          <p:cNvSpPr txSpPr="1"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vi-VN" sz="9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Pipeline · VDT 2026</a:t>
            </a:r>
            <a:endParaRPr lang="vi-VN" sz="900" dirty="0"/>
          </a:p>
        </p:txBody>
      </p:sp>
      <p:sp>
        <p:nvSpPr>
          <p:cNvPr id="5" name="HSub"/>
          <p:cNvSpPr txSpPr="1"/>
          <p:nvPr/>
        </p:nvSpPr>
        <p:spPr>
          <a:xfrm>
            <a:off x="411480" y="690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1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quyet dinh kien truc quan trong</a:t>
            </a:r>
            <a:endParaRPr lang="vi-VN" sz="900" dirty="0"/>
          </a:p>
        </p:txBody>
      </p:sp>
      <p:sp>
        <p:nvSpPr>
          <p:cNvPr id="6" name="FB0"/>
          <p:cNvSpPr/>
          <p:nvPr/>
        </p:nvSpPr>
        <p:spPr>
          <a:xfrm>
            <a:off x="411480" y="1070000"/>
            <a:ext cx="2720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7" name="FS0"/>
          <p:cNvSpPr/>
          <p:nvPr/>
        </p:nvSpPr>
        <p:spPr>
          <a:xfrm>
            <a:off x="411480" y="1070000"/>
            <a:ext cx="2720000" cy="210000"/>
          </a:xfrm>
          <a:prstGeom prst="roundRect">
            <a:avLst>
              <a:gd name="adj" fmla="val 5000"/>
            </a:avLst>
          </a:prstGeom>
          <a:solidFill>
            <a:srgbClr val="B71C1C"/>
          </a:solidFill>
          <a:ln/>
        </p:spPr>
      </p:sp>
      <p:sp>
        <p:nvSpPr>
          <p:cNvPr id="8" name="FT0"/>
          <p:cNvSpPr txSpPr="1"/>
          <p:nvPr/>
        </p:nvSpPr>
        <p:spPr>
          <a:xfrm>
            <a:off x="511480" y="1100000"/>
            <a:ext cx="252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15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Thich nghi dia hinh</a:t>
            </a:r>
            <a:endParaRPr lang="vi-VN" sz="900" dirty="0"/>
          </a:p>
        </p:txBody>
      </p:sp>
      <p:sp>
        <p:nvSpPr>
          <p:cNvPr id="9" name="FST0"/>
          <p:cNvSpPr txSpPr="1"/>
          <p:nvPr/>
        </p:nvSpPr>
        <p:spPr>
          <a:xfrm>
            <a:off x="532440" y="1310000"/>
            <a:ext cx="247808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Nested Learning</a:t>
            </a:r>
            <a:endParaRPr lang="vi-VN" sz="900" dirty="0"/>
          </a:p>
        </p:txBody>
      </p:sp>
      <p:sp>
        <p:nvSpPr>
          <p:cNvPr id="10" name="FD20"/>
          <p:cNvSpPr txSpPr="1"/>
          <p:nvPr/>
        </p:nvSpPr>
        <p:spPr>
          <a:xfrm>
            <a:off x="532440" y="1510000"/>
            <a:ext cx="247808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 terrain co model rieng (uav-navigator-{terrain}). M matrices hoc Hebbian tung frame. Khong can retrain toan bo model.</a:t>
            </a:r>
            <a:endParaRPr lang="vi-VN" sz="900" dirty="0"/>
          </a:p>
        </p:txBody>
      </p:sp>
      <p:sp>
        <p:nvSpPr>
          <p:cNvPr id="11" name="FB1"/>
          <p:cNvSpPr/>
          <p:nvPr/>
        </p:nvSpPr>
        <p:spPr>
          <a:xfrm>
            <a:off x="3251480" y="1070000"/>
            <a:ext cx="2720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12" name="FS1"/>
          <p:cNvSpPr/>
          <p:nvPr/>
        </p:nvSpPr>
        <p:spPr>
          <a:xfrm>
            <a:off x="3251480" y="1070000"/>
            <a:ext cx="2720000" cy="210000"/>
          </a:xfrm>
          <a:prstGeom prst="roundRect">
            <a:avLst>
              <a:gd name="adj" fmla="val 5000"/>
            </a:avLst>
          </a:prstGeom>
          <a:solidFill>
            <a:srgbClr val="C62828"/>
          </a:solidFill>
          <a:ln/>
        </p:spPr>
      </p:sp>
      <p:sp>
        <p:nvSpPr>
          <p:cNvPr id="13" name="FT1"/>
          <p:cNvSpPr txSpPr="1"/>
          <p:nvPr/>
        </p:nvSpPr>
        <p:spPr>
          <a:xfrm>
            <a:off x="3351480" y="1100000"/>
            <a:ext cx="252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15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Khong block UAV</a:t>
            </a:r>
            <a:endParaRPr lang="vi-VN" sz="900" dirty="0"/>
          </a:p>
        </p:txBody>
      </p:sp>
      <p:sp>
        <p:nvSpPr>
          <p:cNvPr id="14" name="FST1"/>
          <p:cNvSpPr txSpPr="1"/>
          <p:nvPr/>
        </p:nvSpPr>
        <p:spPr>
          <a:xfrm>
            <a:off x="3372440" y="1310000"/>
            <a:ext cx="247808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fire-and-forget</a:t>
            </a:r>
            <a:endParaRPr lang="vi-VN" sz="900" dirty="0"/>
          </a:p>
        </p:txBody>
      </p:sp>
      <p:sp>
        <p:nvSpPr>
          <p:cNvPr id="15" name="FD21"/>
          <p:cNvSpPr txSpPr="1"/>
          <p:nvPr/>
        </p:nvSpPr>
        <p:spPr>
          <a:xfrm>
            <a:off x="3372440" y="1510000"/>
            <a:ext cx="247808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publish event va bay tiep ngay. Khong cho server. Kafka giu event 7 ngay neu server down.</a:t>
            </a:r>
            <a:endParaRPr lang="vi-VN" sz="900" dirty="0"/>
          </a:p>
        </p:txBody>
      </p:sp>
      <p:sp>
        <p:nvSpPr>
          <p:cNvPr id="16" name="FB2"/>
          <p:cNvSpPr/>
          <p:nvPr/>
        </p:nvSpPr>
        <p:spPr>
          <a:xfrm>
            <a:off x="6091480" y="1070000"/>
            <a:ext cx="2720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17" name="FS2"/>
          <p:cNvSpPr/>
          <p:nvPr/>
        </p:nvSpPr>
        <p:spPr>
          <a:xfrm>
            <a:off x="6091480" y="1070000"/>
            <a:ext cx="2720000" cy="210000"/>
          </a:xfrm>
          <a:prstGeom prst="roundRect">
            <a:avLst>
              <a:gd name="adj" fmla="val 5000"/>
            </a:avLst>
          </a:prstGeom>
          <a:solidFill>
            <a:srgbClr val="1B5E20"/>
          </a:solidFill>
          <a:ln/>
        </p:spPr>
      </p:sp>
      <p:sp>
        <p:nvSpPr>
          <p:cNvPr id="18" name="FT2"/>
          <p:cNvSpPr txSpPr="1"/>
          <p:nvPr/>
        </p:nvSpPr>
        <p:spPr>
          <a:xfrm>
            <a:off x="6191480" y="1100000"/>
            <a:ext cx="252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15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rong de dang</a:t>
            </a:r>
            <a:endParaRPr lang="vi-VN" sz="900" dirty="0"/>
          </a:p>
        </p:txBody>
      </p:sp>
      <p:sp>
        <p:nvSpPr>
          <p:cNvPr id="19" name="FST2"/>
          <p:cNvSpPr txSpPr="1"/>
          <p:nvPr/>
        </p:nvSpPr>
        <p:spPr>
          <a:xfrm>
            <a:off x="6212440" y="1310000"/>
            <a:ext cx="247808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per-terrain jobs</a:t>
            </a:r>
            <a:endParaRPr lang="vi-VN" sz="900" dirty="0"/>
          </a:p>
        </p:txBody>
      </p:sp>
      <p:sp>
        <p:nvSpPr>
          <p:cNvPr id="20" name="FD22"/>
          <p:cNvSpPr txSpPr="1"/>
          <p:nvPr/>
        </p:nvSpPr>
        <p:spPr>
          <a:xfrm>
            <a:off x="6212440" y="1510000"/>
            <a:ext cx="247808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 terrain moi → khong can sua code. K8s tu schedule GPU. Nhieu UAV → nhieu jobs song song.</a:t>
            </a:r>
            <a:endParaRPr lang="vi-VN" sz="900" dirty="0"/>
          </a:p>
        </p:txBody>
      </p:sp>
      <p:sp>
        <p:nvSpPr>
          <p:cNvPr id="21" name="FB3"/>
          <p:cNvSpPr/>
          <p:nvPr/>
        </p:nvSpPr>
        <p:spPr>
          <a:xfrm>
            <a:off x="411480" y="2930000"/>
            <a:ext cx="2720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22" name="FS3"/>
          <p:cNvSpPr/>
          <p:nvPr/>
        </p:nvSpPr>
        <p:spPr>
          <a:xfrm>
            <a:off x="411480" y="2930000"/>
            <a:ext cx="2720000" cy="210000"/>
          </a:xfrm>
          <a:prstGeom prst="roundRect">
            <a:avLst>
              <a:gd name="adj" fmla="val 5000"/>
            </a:avLst>
          </a:prstGeom>
          <a:solidFill>
            <a:srgbClr val="4527A0"/>
          </a:solidFill>
          <a:ln/>
        </p:spPr>
      </p:sp>
      <p:sp>
        <p:nvSpPr>
          <p:cNvPr id="23" name="FT3"/>
          <p:cNvSpPr txSpPr="1"/>
          <p:nvPr/>
        </p:nvSpPr>
        <p:spPr>
          <a:xfrm>
            <a:off x="511480" y="2960000"/>
            <a:ext cx="252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15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vi-VN" sz="900" dirty="0"/>
          </a:p>
        </p:txBody>
      </p:sp>
      <p:sp>
        <p:nvSpPr>
          <p:cNvPr id="24" name="FST3"/>
          <p:cNvSpPr txSpPr="1"/>
          <p:nvPr/>
        </p:nvSpPr>
        <p:spPr>
          <a:xfrm>
            <a:off x="532440" y="3170000"/>
            <a:ext cx="247808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full tracking</a:t>
            </a:r>
            <a:endParaRPr lang="vi-VN" sz="900" dirty="0"/>
          </a:p>
        </p:txBody>
      </p:sp>
      <p:sp>
        <p:nvSpPr>
          <p:cNvPr id="25" name="FD23"/>
          <p:cNvSpPr txSpPr="1"/>
          <p:nvPr/>
        </p:nvSpPr>
        <p:spPr>
          <a:xfrm>
            <a:off x="532440" y="3370000"/>
            <a:ext cx="247808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 training run: accuracy, loss, M_norms, latency_p95. So sanh version, rollback bat ky luc nao.</a:t>
            </a:r>
            <a:endParaRPr lang="vi-VN" sz="900" dirty="0"/>
          </a:p>
        </p:txBody>
      </p:sp>
      <p:sp>
        <p:nvSpPr>
          <p:cNvPr id="26" name="FB4"/>
          <p:cNvSpPr/>
          <p:nvPr/>
        </p:nvSpPr>
        <p:spPr>
          <a:xfrm>
            <a:off x="3251480" y="2930000"/>
            <a:ext cx="2720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27" name="FS4"/>
          <p:cNvSpPr/>
          <p:nvPr/>
        </p:nvSpPr>
        <p:spPr>
          <a:xfrm>
            <a:off x="3251480" y="2930000"/>
            <a:ext cx="2720000" cy="210000"/>
          </a:xfrm>
          <a:prstGeom prst="roundRect">
            <a:avLst>
              <a:gd name="adj" fmla="val 5000"/>
            </a:avLst>
          </a:prstGeom>
          <a:solidFill>
            <a:srgbClr val="92400E"/>
          </a:solidFill>
          <a:ln/>
        </p:spPr>
      </p:sp>
      <p:sp>
        <p:nvSpPr>
          <p:cNvPr id="28" name="FT4"/>
          <p:cNvSpPr txSpPr="1"/>
          <p:nvPr/>
        </p:nvSpPr>
        <p:spPr>
          <a:xfrm>
            <a:off x="3351480" y="2960000"/>
            <a:ext cx="252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15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Intelligence</a:t>
            </a:r>
            <a:endParaRPr lang="vi-VN" sz="900" dirty="0"/>
          </a:p>
        </p:txBody>
      </p:sp>
      <p:sp>
        <p:nvSpPr>
          <p:cNvPr id="29" name="FST4"/>
          <p:cNvSpPr txSpPr="1"/>
          <p:nvPr/>
        </p:nvSpPr>
        <p:spPr>
          <a:xfrm>
            <a:off x="3372440" y="3170000"/>
            <a:ext cx="247808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processing</a:t>
            </a:r>
            <a:endParaRPr lang="vi-VN" sz="900" dirty="0"/>
          </a:p>
        </p:txBody>
      </p:sp>
      <p:sp>
        <p:nvSpPr>
          <p:cNvPr id="30" name="FD24"/>
          <p:cNvSpPr txSpPr="1"/>
          <p:nvPr/>
        </p:nvSpPr>
        <p:spPr>
          <a:xfrm>
            <a:off x="3372440" y="3370000"/>
            <a:ext cx="247808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+ Nested Learning chay hoan toan tren UAV. Khong can ket noi cloud de bay. Chi can cloud khi retrain.</a:t>
            </a:r>
            <a:endParaRPr lang="vi-VN" sz="900" dirty="0"/>
          </a:p>
        </p:txBody>
      </p:sp>
      <p:sp>
        <p:nvSpPr>
          <p:cNvPr id="31" name="FB5"/>
          <p:cNvSpPr/>
          <p:nvPr/>
        </p:nvSpPr>
        <p:spPr>
          <a:xfrm>
            <a:off x="6091480" y="2930000"/>
            <a:ext cx="2720000" cy="172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FFCDD2"/>
            </a:solidFill>
            <a:prstDash val="solid"/>
          </a:ln>
          <a:effectLst>
            <a:outerShdw blurRad="76200" dist="38100" dir="2700000" rotWithShape="0">
              <a:srgbClr val="000000">
                <a:alpha val="8000"/>
              </a:srgbClr>
            </a:outerShdw>
          </a:effectLst>
        </p:spPr>
      </p:sp>
      <p:sp>
        <p:nvSpPr>
          <p:cNvPr id="32" name="FS5"/>
          <p:cNvSpPr/>
          <p:nvPr/>
        </p:nvSpPr>
        <p:spPr>
          <a:xfrm>
            <a:off x="6091480" y="2930000"/>
            <a:ext cx="2720000" cy="210000"/>
          </a:xfrm>
          <a:prstGeom prst="roundRect">
            <a:avLst>
              <a:gd name="adj" fmla="val 5000"/>
            </a:avLst>
          </a:prstGeom>
          <a:solidFill>
            <a:srgbClr val="065F46"/>
          </a:solidFill>
          <a:ln/>
        </p:spPr>
      </p:sp>
      <p:sp>
        <p:nvSpPr>
          <p:cNvPr id="33" name="FT5"/>
          <p:cNvSpPr txSpPr="1"/>
          <p:nvPr/>
        </p:nvSpPr>
        <p:spPr>
          <a:xfrm>
            <a:off x="6191480" y="2960000"/>
            <a:ext cx="252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15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ro rang</a:t>
            </a:r>
            <a:endParaRPr lang="vi-VN" sz="900" dirty="0"/>
          </a:p>
        </p:txBody>
      </p:sp>
      <p:sp>
        <p:nvSpPr>
          <p:cNvPr id="34" name="FST5"/>
          <p:cNvSpPr txSpPr="1"/>
          <p:nvPr/>
        </p:nvSpPr>
        <p:spPr>
          <a:xfrm>
            <a:off x="6212440" y="3170000"/>
            <a:ext cx="247808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950" dirty="0" b="1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Ceph buckets</a:t>
            </a:r>
            <a:endParaRPr lang="vi-VN" sz="900" dirty="0"/>
          </a:p>
        </p:txBody>
      </p:sp>
      <p:sp>
        <p:nvSpPr>
          <p:cNvPr id="35" name="FD25"/>
          <p:cNvSpPr txSpPr="1"/>
          <p:nvPr/>
        </p:nvSpPr>
        <p:spPr>
          <a:xfrm>
            <a:off x="6212440" y="3370000"/>
            <a:ext cx="247808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spcBef>
                <a:spcPts val="60"/>
              </a:spcBef>
            </a:pPr>
            <a:r>
              <a:rPr lang="vi-VN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checkpoints/ · training-data/ · fast-weight-state/ · mlflow-artifacts/. Moi bucket co owner ro rang.</a:t>
            </a:r>
            <a:endParaRPr lang="vi-VN" sz="900" dirty="0"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mmary">
    <p:bg>
      <p:bgPr>
        <a:solidFill>
          <a:srgbClr val="B7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1"/>
          <p:cNvSpPr/>
          <p:nvPr/>
        </p:nvSpPr>
        <p:spPr>
          <a:xfrm>
            <a:off x="5943600" y="-1371600"/>
            <a:ext cx="5943600" cy="5943600"/>
          </a:xfrm>
          <a:prstGeom prst="rect">
            <a:avLst/>
          </a:prstGeom>
          <a:solidFill>
            <a:srgbClr val="C62828">
              <a:alpha val="40000"/>
            </a:srgbClr>
          </a:solidFill>
          <a:ln w="9525">
            <a:solidFill>
              <a:srgbClr val="C62828"/>
            </a:solidFill>
            <a:prstDash val="solid"/>
          </a:ln>
        </p:spPr>
      </p:sp>
      <p:sp>
        <p:nvSpPr>
          <p:cNvPr id="3" name="C2"/>
          <p:cNvSpPr/>
          <p:nvPr/>
        </p:nvSpPr>
        <p:spPr>
          <a:xfrm>
            <a:off x="6858000" y="457200"/>
            <a:ext cx="3657600" cy="3657600"/>
          </a:xfrm>
          <a:prstGeom prst="rect">
            <a:avLst/>
          </a:prstGeom>
          <a:solidFill>
            <a:srgbClr val="E53935">
              <a:alpha val="30000"/>
            </a:srgbClr>
          </a:solidFill>
          <a:ln w="9525">
            <a:solidFill>
              <a:srgbClr val="E53935"/>
            </a:solidFill>
            <a:prstDash val="solid"/>
          </a:ln>
        </p:spPr>
      </p:sp>
      <p:sp>
        <p:nvSpPr>
          <p:cNvPr id="4" name="HDR"/>
          <p:cNvSpPr txSpPr="1"/>
          <p:nvPr/>
        </p:nvSpPr>
        <p:spPr>
          <a:xfrm>
            <a:off x="411480" y="120000"/>
            <a:ext cx="8321040" cy="5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32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Tat</a:t>
            </a:r>
            <a:endParaRPr lang="vi-VN" sz="900" dirty="0"/>
          </a:p>
        </p:txBody>
      </p:sp>
      <p:sp>
        <p:nvSpPr>
          <p:cNvPr id="5" name="SUB"/>
          <p:cNvSpPr txSpPr="1"/>
          <p:nvPr/>
        </p:nvSpPr>
        <p:spPr>
          <a:xfrm>
            <a:off x="411480" y="680000"/>
            <a:ext cx="832104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14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Nested Learning Pipeline — 3 diem cot loi</a:t>
            </a:r>
            <a:endParaRPr lang="vi-VN" sz="900" dirty="0"/>
          </a:p>
        </p:txBody>
      </p:sp>
      <p:sp>
        <p:nvSpPr>
          <p:cNvPr id="6" name="NC0"/>
          <p:cNvSpPr/>
          <p:nvPr/>
        </p:nvSpPr>
        <p:spPr>
          <a:xfrm>
            <a:off x="411480" y="1100000"/>
            <a:ext cx="480000" cy="4800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7" name="NT0"/>
          <p:cNvSpPr txSpPr="1"/>
          <p:nvPr/>
        </p:nvSpPr>
        <p:spPr>
          <a:xfrm>
            <a:off x="411480" y="1100000"/>
            <a:ext cx="48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2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vi-VN" sz="900" dirty="0"/>
          </a:p>
        </p:txBody>
      </p:sp>
      <p:sp>
        <p:nvSpPr>
          <p:cNvPr id="8" name="ST0"/>
          <p:cNvSpPr txSpPr="1"/>
          <p:nvPr/>
        </p:nvSpPr>
        <p:spPr>
          <a:xfrm>
            <a:off x="960000" y="1130000"/>
            <a:ext cx="776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3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Thuat toan Nested Learning la core</a:t>
            </a:r>
            <a:endParaRPr lang="vi-VN" sz="900" dirty="0"/>
          </a:p>
        </p:txBody>
      </p:sp>
      <p:sp>
        <p:nvSpPr>
          <p:cNvPr id="9" name="SD0"/>
          <p:cNvSpPr txSpPr="1"/>
          <p:nvPr/>
        </p:nvSpPr>
        <p:spPr>
          <a:xfrm>
            <a:off x="960000" y="1440000"/>
            <a:ext cx="776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05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 frame: delta → level → Hebbian M update → NLResNet combined=M×v+v → action. 3 toc do ky uc (0.90/0.95/0.99). On-device hoan toan. medium/slow tu trigger retrain qua Kafka.</a:t>
            </a:r>
            <a:endParaRPr lang="vi-VN" sz="900" dirty="0"/>
          </a:p>
        </p:txBody>
      </p:sp>
      <p:sp>
        <p:nvSpPr>
          <p:cNvPr id="10" name="NC1"/>
          <p:cNvSpPr/>
          <p:nvPr/>
        </p:nvSpPr>
        <p:spPr>
          <a:xfrm>
            <a:off x="411480" y="2250000"/>
            <a:ext cx="480000" cy="4800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1" name="NT1"/>
          <p:cNvSpPr txSpPr="1"/>
          <p:nvPr/>
        </p:nvSpPr>
        <p:spPr>
          <a:xfrm>
            <a:off x="411480" y="2250000"/>
            <a:ext cx="48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2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vi-VN" sz="900" dirty="0"/>
          </a:p>
        </p:txBody>
      </p:sp>
      <p:sp>
        <p:nvSpPr>
          <p:cNvPr id="12" name="ST1"/>
          <p:cNvSpPr txSpPr="1"/>
          <p:nvPr/>
        </p:nvSpPr>
        <p:spPr>
          <a:xfrm>
            <a:off x="960000" y="2280000"/>
            <a:ext cx="776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3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Kien truc event-driven, khong block</a:t>
            </a:r>
            <a:endParaRPr lang="vi-VN" sz="900" dirty="0"/>
          </a:p>
        </p:txBody>
      </p:sp>
      <p:sp>
        <p:nvSpPr>
          <p:cNvPr id="13" name="SD1"/>
          <p:cNvSpPr txSpPr="1"/>
          <p:nvPr/>
        </p:nvSpPr>
        <p:spPr>
          <a:xfrm>
            <a:off x="960000" y="2590000"/>
            <a:ext cx="776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05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 → Kafka (async) → Consumer → K8s Job. UAV khong cho cloud. Ceph luu toan bo binary (4 buckets). MLflow track moi experiment. Per-terrain isolation.</a:t>
            </a:r>
            <a:endParaRPr lang="vi-VN" sz="900" dirty="0"/>
          </a:p>
        </p:txBody>
      </p:sp>
      <p:sp>
        <p:nvSpPr>
          <p:cNvPr id="14" name="NC2"/>
          <p:cNvSpPr/>
          <p:nvPr/>
        </p:nvSpPr>
        <p:spPr>
          <a:xfrm>
            <a:off x="411480" y="3400000"/>
            <a:ext cx="480000" cy="48000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5" name="NT2"/>
          <p:cNvSpPr txSpPr="1"/>
          <p:nvPr/>
        </p:nvSpPr>
        <p:spPr>
          <a:xfrm>
            <a:off x="411480" y="3400000"/>
            <a:ext cx="48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24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vi-VN" sz="900" dirty="0"/>
          </a:p>
        </p:txBody>
      </p:sp>
      <p:sp>
        <p:nvSpPr>
          <p:cNvPr id="16" name="ST2"/>
          <p:cNvSpPr txSpPr="1"/>
          <p:nvPr/>
        </p:nvSpPr>
        <p:spPr>
          <a:xfrm>
            <a:off x="960000" y="3430000"/>
            <a:ext cx="776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3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sang mo rong len production</a:t>
            </a:r>
            <a:endParaRPr lang="vi-VN" sz="900" dirty="0"/>
          </a:p>
        </p:txBody>
      </p:sp>
      <p:sp>
        <p:nvSpPr>
          <p:cNvPr id="17" name="SD2"/>
          <p:cNvSpPr txSpPr="1"/>
          <p:nvPr/>
        </p:nvSpPr>
        <p:spPr>
          <a:xfrm>
            <a:off x="960000" y="3740000"/>
            <a:ext cx="776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vi-VN" sz="105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K8s: parallel multi-terrain jobs, GPU scheduling. Kafka: nhieu UAV publish cung luc. MLflow: model governance, rollback. Chi can them ground-truth labels de train that.</a:t>
            </a:r>
            <a:endParaRPr lang="vi-VN" sz="900" dirty="0"/>
          </a:p>
        </p:txBody>
      </p:sp>
      <p:sp>
        <p:nvSpPr>
          <p:cNvPr id="18" name="QB"/>
          <p:cNvSpPr/>
          <p:nvPr/>
        </p:nvSpPr>
        <p:spPr>
          <a:xfrm>
            <a:off x="411480" y="4680000"/>
            <a:ext cx="8321040" cy="310000"/>
          </a:xfrm>
          <a:prstGeom prst="rect">
            <a:avLst/>
          </a:prstGeom>
          <a:solidFill>
            <a:srgbClr val="C62828"/>
          </a:solidFill>
          <a:ln w="9525">
            <a:solidFill>
              <a:srgbClr val="EF5350"/>
            </a:solidFill>
            <a:prstDash val="solid"/>
          </a:ln>
        </p:spPr>
      </p:sp>
      <p:sp>
        <p:nvSpPr>
          <p:cNvPr id="19" name="QT2"/>
          <p:cNvSpPr txSpPr="1"/>
          <p:nvPr/>
        </p:nvSpPr>
        <p:spPr>
          <a:xfrm>
            <a:off x="411480" y="4680000"/>
            <a:ext cx="832104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vi-VN" sz="2000" dirty="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 ·  7-8 phut  ·  Demo available</a:t>
            </a:r>
            <a:endParaRPr lang="vi-VN" sz="900" dirty="0"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So sánh: Nested Learning vs Sản phẩm UAV thực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FCDD2"/>
                </a:solidFill>
                <a:latin typeface="Calibri"/>
              </a:rPr>
              <a:t>UAV Pipeline · VDT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85800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FFCDD2"/>
                </a:solidFill>
                <a:latin typeface="Calibri"/>
              </a:rPr>
              <a:t>Khả năng học thích nghi AI: Nested Learning (nghiên cứu) vs DJI · Skydio · Percepto (sản phẩm đã ship)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024128"/>
          <a:ext cx="8686800" cy="389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691640"/>
                <a:gridCol w="1691640"/>
                <a:gridCol w="1691640"/>
                <a:gridCol w="1691640"/>
              </a:tblGrid>
              <a:tr h="438912"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Tiêu chí so sánh</a:t>
                      </a:r>
                    </a:p>
                  </a:txBody>
                  <a:tcPr anchor="ctr">
                    <a:solidFill>
                      <a:srgbClr val="37474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DJI Matrice 350</a:t>
                      </a:r>
                    </a:p>
                  </a:txBody>
                  <a:tcPr anchor="ctr">
                    <a:solidFill>
                      <a:srgbClr val="37474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Skydio X10D</a:t>
                      </a:r>
                    </a:p>
                  </a:txBody>
                  <a:tcPr anchor="ctr">
                    <a:solidFill>
                      <a:srgbClr val="37474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Percepto Air Max</a:t>
                      </a:r>
                    </a:p>
                  </a:txBody>
                  <a:tcPr anchor="ctr">
                    <a:solidFill>
                      <a:srgbClr val="37474F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Nested Learning
(Ours)</a:t>
                      </a:r>
                    </a:p>
                  </a:txBody>
                  <a:tcPr anchor="ctr">
                    <a:solidFill>
                      <a:srgbClr val="1B5E20"/>
                    </a:solidFill>
                  </a:tcPr>
                </a:tc>
              </a:tr>
              <a:tr h="576072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>
                          <a:solidFill>
                            <a:srgbClr val="1E293B"/>
                          </a:solidFill>
                          <a:latin typeface="Calibri"/>
                        </a:rPr>
                        <a:t>Adapt địa hình
khi đang bay</a:t>
                      </a:r>
                    </a:p>
                  </a:txBody>
                  <a:tcPr anchor="ctr">
                    <a:solidFill>
                      <a:srgbClr val="ECEFF1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  <a:latin typeface="Calibri"/>
                        </a:rPr>
                        <a:t>✗ Không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Model frozen sau deploy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  <a:latin typeface="Calibri"/>
                        </a:rPr>
                        <a:t>✗ Không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SLAM map only, không học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  <a:latin typeface="Calibri"/>
                        </a:rPr>
                        <a:t>✗ Không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Model frozen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1B5E20"/>
                          </a:solidFill>
                          <a:latin typeface="Calibri"/>
                        </a:rPr>
                        <a:t>✓ Có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Hebbian update mỗi frame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576072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>
                          <a:solidFill>
                            <a:srgbClr val="1E293B"/>
                          </a:solidFill>
                          <a:latin typeface="Calibri"/>
                        </a:rPr>
                        <a:t>Nhớ địa hình
đã bay qua</a:t>
                      </a:r>
                    </a:p>
                  </a:txBody>
                  <a:tcPr anchor="ctr">
                    <a:solidFill>
                      <a:srgbClr val="ECEFF1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  <a:latin typeface="Calibri"/>
                        </a:rPr>
                        <a:t>✗ Không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Không có memory module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  <a:latin typeface="Calibri"/>
                        </a:rPr>
                        <a:t>✗ Không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Session map, không persist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  <a:latin typeface="Calibri"/>
                        </a:rPr>
                        <a:t>✗ Không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Không persist cross-session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1B5E20"/>
                          </a:solidFill>
                          <a:latin typeface="Calibri"/>
                        </a:rPr>
                        <a:t>✓ Có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M_slow α=0.99 — decay cực chậm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576072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>
                          <a:solidFill>
                            <a:srgbClr val="1E293B"/>
                          </a:solidFill>
                          <a:latin typeface="Calibri"/>
                        </a:rPr>
                        <a:t>Dừng UAV
để update model</a:t>
                      </a:r>
                    </a:p>
                  </a:txBody>
                  <a:tcPr anchor="ctr">
                    <a:solidFill>
                      <a:srgbClr val="ECEFF1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  <a:latin typeface="Calibri"/>
                        </a:rPr>
                        <a:t>✗ Cần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Về dock + DJI Cloud sync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  <a:latin typeface="Calibri"/>
                        </a:rPr>
                        <a:t>✗ Cần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Về dock + firmware download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  <a:latin typeface="Calibri"/>
                        </a:rPr>
                        <a:t>✗ Cần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Về dock, update offline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1B5E20"/>
                          </a:solidFill>
                          <a:latin typeface="Calibri"/>
                        </a:rPr>
                        <a:t>✓ Không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K8s Job chạy async, UAV bay tiếp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576072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>
                          <a:solidFill>
                            <a:srgbClr val="1E293B"/>
                          </a:solidFill>
                          <a:latin typeface="Calibri"/>
                        </a:rPr>
                        <a:t>Cần labels
để học thêm</a:t>
                      </a:r>
                    </a:p>
                  </a:txBody>
                  <a:tcPr anchor="ctr">
                    <a:solidFill>
                      <a:srgbClr val="ECEFF1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  <a:latin typeface="Calibri"/>
                        </a:rPr>
                        <a:t>✗ Có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Annotate + full retrain cycle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  <a:latin typeface="Calibri"/>
                        </a:rPr>
                        <a:t>✗ Có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Annotate + full retrain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  <a:latin typeface="Calibri"/>
                        </a:rPr>
                        <a:t>✗ Có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Annotate + retrain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1B5E20"/>
                          </a:solidFill>
                          <a:latin typeface="Calibri"/>
                        </a:rPr>
                        <a:t>✓ Không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Inner loop hoàn toàn unsupervised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576072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>
                          <a:solidFill>
                            <a:srgbClr val="1E293B"/>
                          </a:solidFill>
                          <a:latin typeface="Calibri"/>
                        </a:rPr>
                        <a:t>Validation
kết quả thích nghi</a:t>
                      </a:r>
                    </a:p>
                  </a:txBody>
                  <a:tcPr anchor="ctr">
                    <a:solidFill>
                      <a:srgbClr val="ECEFF1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1B5E20"/>
                          </a:solidFill>
                          <a:latin typeface="Calibri"/>
                        </a:rPr>
                        <a:t>✓ Rõ ràng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Benchmark đầy đủ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1B5E20"/>
                          </a:solidFill>
                          <a:latin typeface="Calibri"/>
                        </a:rPr>
                        <a:t>✓ Rõ ràng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Benchmark đầy đủ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1B5E20"/>
                          </a:solidFill>
                          <a:latin typeface="Calibri"/>
                        </a:rPr>
                        <a:t>✓ Rõ ràng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Site-specific benchmark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  <a:latin typeface="Calibri"/>
                        </a:rPr>
                        <a:t>✗ Chưa có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Không biết đang học đúng không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</a:tr>
              <a:tr h="576072">
                <a:tc>
                  <a:txBody>
                    <a:bodyPr wrap="square" lIns="54864" rIns="54864" tIns="36576" bIns="36576"/>
                    <a:lstStyle/>
                    <a:p>
                      <a:pPr algn="l"/>
                      <a:r>
                        <a:rPr sz="950" b="1">
                          <a:solidFill>
                            <a:srgbClr val="1E293B"/>
                          </a:solidFill>
                          <a:latin typeface="Calibri"/>
                        </a:rPr>
                        <a:t>Production
readiness</a:t>
                      </a:r>
                    </a:p>
                  </a:txBody>
                  <a:tcPr anchor="ctr">
                    <a:solidFill>
                      <a:srgbClr val="ECEFF1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1B5E20"/>
                          </a:solidFill>
                          <a:latin typeface="Calibri"/>
                        </a:rPr>
                        <a:t>✓ Đã ship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Thương mại toàn cầu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1B5E20"/>
                          </a:solidFill>
                          <a:latin typeface="Calibri"/>
                        </a:rPr>
                        <a:t>✓ Đã ship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DoD contract, enterprise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1B5E20"/>
                          </a:solidFill>
                          <a:latin typeface="Calibri"/>
                        </a:rPr>
                        <a:t>✓ Đã ship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500+ industrial sites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 wrap="square" lIns="54864" rIns="54864" tIns="36576" bIns="36576"/>
                    <a:lstStyle/>
                    <a:p>
                      <a:pPr algn="ctr"/>
                      <a:r>
                        <a:rPr sz="1000" b="1">
                          <a:solidFill>
                            <a:srgbClr val="B71C1C"/>
                          </a:solidFill>
                          <a:latin typeface="Calibri"/>
                        </a:rPr>
                        <a:t>✗ Prototype</a:t>
                      </a:r>
                    </a:p>
                    <a:p>
                      <a:pPr algn="ctr"/>
                      <a:r>
                        <a:rPr sz="780" b="0" i="1">
                          <a:solidFill>
                            <a:srgbClr val="555555"/>
                          </a:solidFill>
                          <a:latin typeface="Calibri"/>
                        </a:rPr>
                        <a:t>Research stage, chưa benchmark</a:t>
                      </a:r>
                    </a:p>
                  </a:txBody>
                  <a:tcPr anchor="ctr"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8600" y="4983480"/>
            <a:ext cx="86868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  <a:latin typeface="Calibri"/>
              </a:rPr>
              <a:t>* So sánh tập trung vào khả năng học thích nghi AI. DJI / Skydio / Percepto dẫn đầu về obstacle avoidance, flight stability và production reliability.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Bar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Title"/>
          <p:cNvSpPr txBox="1"/>
          <p:nvPr/>
        </p:nvSpPr>
        <p:spPr>
          <a:xfrm>
            <a:off x="411480" y="9144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Thách thức khi áp dụng Nested Learning &amp; Giải pháp</a:t>
            </a:r>
          </a:p>
        </p:txBody>
      </p:sp>
      <p:sp>
        <p:nvSpPr>
          <p:cNvPr id="4" name="SubRight"/>
          <p:cNvSpPr txBox="1"/>
          <p:nvPr/>
        </p:nvSpPr>
        <p:spPr>
          <a:xfrm>
            <a:off x="6858000" y="1371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FFCDD2"/>
                </a:solidFill>
                <a:latin typeface="Calibri"/>
              </a:rPr>
              <a:t>UAV Pipeline · VDT 2026</a:t>
            </a:r>
          </a:p>
        </p:txBody>
      </p:sp>
      <p:sp>
        <p:nvSpPr>
          <p:cNvPr id="5" name="SubLeft"/>
          <p:cNvSpPr txBox="1"/>
          <p:nvPr/>
        </p:nvSpPr>
        <p:spPr>
          <a:xfrm>
            <a:off x="411480" y="685800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FFCDD2"/>
                </a:solidFill>
                <a:latin typeface="Calibri"/>
              </a:rPr>
              <a:t>3 thách thức chưa giải quyết được — giới hạn fundamental từ kiến trúc &amp; regulatory</a:t>
            </a:r>
          </a:p>
        </p:txBody>
      </p:sp>
      <p:sp>
        <p:nvSpPr>
          <p:cNvPr id="6" name="CardBg1"/>
          <p:cNvSpPr/>
          <p:nvPr/>
        </p:nvSpPr>
        <p:spPr>
          <a:xfrm>
            <a:off x="228600" y="1033271"/>
            <a:ext cx="2773680" cy="2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adge1"/>
          <p:cNvSpPr/>
          <p:nvPr/>
        </p:nvSpPr>
        <p:spPr>
          <a:xfrm>
            <a:off x="320040" y="1124711"/>
            <a:ext cx="256032" cy="25603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um1"/>
          <p:cNvSpPr txBox="1"/>
          <p:nvPr/>
        </p:nvSpPr>
        <p:spPr>
          <a:xfrm>
            <a:off x="320040" y="112471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itle1"/>
          <p:cNvSpPr txBox="1"/>
          <p:nvPr/>
        </p:nvSpPr>
        <p:spPr>
          <a:xfrm>
            <a:off x="649800" y="1124711"/>
            <a:ext cx="2261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B71C1C"/>
                </a:solidFill>
                <a:latin typeface="Calibri"/>
              </a:rPr>
              <a:t>Pseudo-label Confirmation Bias</a:t>
            </a:r>
          </a:p>
        </p:txBody>
      </p:sp>
      <p:sp>
        <p:nvSpPr>
          <p:cNvPr id="10" name="Problem1"/>
          <p:cNvSpPr txBox="1"/>
          <p:nvPr/>
        </p:nvSpPr>
        <p:spPr>
          <a:xfrm>
            <a:off x="320040" y="1493271"/>
            <a:ext cx="259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Model tự generate labels → tự train trên labels sai của mình → bias khuếch đại theo vòng lặp</a:t>
            </a:r>
          </a:p>
        </p:txBody>
      </p:sp>
      <p:sp>
        <p:nvSpPr>
          <p:cNvPr id="11" name="Div1"/>
          <p:cNvSpPr/>
          <p:nvPr/>
        </p:nvSpPr>
        <p:spPr>
          <a:xfrm>
            <a:off x="320040" y="1783271"/>
            <a:ext cx="2590800" cy="1828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olution1"/>
          <p:cNvSpPr txBox="1"/>
          <p:nvPr/>
        </p:nvSpPr>
        <p:spPr>
          <a:xfrm>
            <a:off x="320040" y="1828271"/>
            <a:ext cx="2590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  <a:latin typeface="Calibri"/>
              </a:rPr>
              <a:t>→  Cần Human-labeled Seed Data</a:t>
            </a:r>
          </a:p>
        </p:txBody>
      </p:sp>
      <p:sp>
        <p:nvSpPr>
          <p:cNvPr id="13" name="Desc1"/>
          <p:cNvSpPr txBox="1"/>
          <p:nvPr/>
        </p:nvSpPr>
        <p:spPr>
          <a:xfrm>
            <a:off x="320040" y="2113271"/>
            <a:ext cx="2590800" cy="12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70" b="0" i="0">
                <a:solidFill>
                  <a:srgbClr val="1E293B"/>
                </a:solidFill>
                <a:latin typeface="Calibri"/>
              </a:rPr>
              <a:t>Self-training chỉ hội tụ khi model đủ tốt ban đầu. Với ImageNet fallback, model predict ngẫu nhiên → sai labels → retrain trên sai lầm của chính mình. Cần 300–500 frames human-labeled để bootstrap. Không fix được thuần bằng code — đây là giới hạn của self-training.</a:t>
            </a:r>
          </a:p>
        </p:txBody>
      </p:sp>
      <p:sp>
        <p:nvSpPr>
          <p:cNvPr id="14" name="CardBg2"/>
          <p:cNvSpPr/>
          <p:nvPr/>
        </p:nvSpPr>
        <p:spPr>
          <a:xfrm>
            <a:off x="3185160" y="1033271"/>
            <a:ext cx="2773680" cy="2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dge2"/>
          <p:cNvSpPr/>
          <p:nvPr/>
        </p:nvSpPr>
        <p:spPr>
          <a:xfrm>
            <a:off x="3276600" y="1124711"/>
            <a:ext cx="256032" cy="25603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um2"/>
          <p:cNvSpPr txBox="1"/>
          <p:nvPr/>
        </p:nvSpPr>
        <p:spPr>
          <a:xfrm>
            <a:off x="3276600" y="112471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itle2"/>
          <p:cNvSpPr txBox="1"/>
          <p:nvPr/>
        </p:nvSpPr>
        <p:spPr>
          <a:xfrm>
            <a:off x="3606360" y="1124711"/>
            <a:ext cx="2261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B71C1C"/>
                </a:solidFill>
                <a:latin typeface="Calibri"/>
              </a:rPr>
              <a:t>Off-policy Problem</a:t>
            </a:r>
          </a:p>
        </p:txBody>
      </p:sp>
      <p:sp>
        <p:nvSpPr>
          <p:cNvPr id="18" name="Problem2"/>
          <p:cNvSpPr txBox="1"/>
          <p:nvPr/>
        </p:nvSpPr>
        <p:spPr>
          <a:xfrm>
            <a:off x="3276600" y="1493271"/>
            <a:ext cx="259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Titans W tối ưu MSE(W@x, x) — không biết navigate tốt hay xấu</a:t>
            </a:r>
          </a:p>
        </p:txBody>
      </p:sp>
      <p:sp>
        <p:nvSpPr>
          <p:cNvPr id="19" name="Div2"/>
          <p:cNvSpPr/>
          <p:nvPr/>
        </p:nvSpPr>
        <p:spPr>
          <a:xfrm>
            <a:off x="3276600" y="1783271"/>
            <a:ext cx="2590800" cy="1828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olution2"/>
          <p:cNvSpPr txBox="1"/>
          <p:nvPr/>
        </p:nvSpPr>
        <p:spPr>
          <a:xfrm>
            <a:off x="3276600" y="1828271"/>
            <a:ext cx="2590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  <a:latin typeface="Calibri"/>
              </a:rPr>
              <a:t>→  Reward Signal từ Environment</a:t>
            </a:r>
          </a:p>
        </p:txBody>
      </p:sp>
      <p:sp>
        <p:nvSpPr>
          <p:cNvPr id="21" name="Desc2"/>
          <p:cNvSpPr txBox="1"/>
          <p:nvPr/>
        </p:nvSpPr>
        <p:spPr>
          <a:xfrm>
            <a:off x="3276600" y="2113271"/>
            <a:ext cx="2590800" cy="12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70" b="0" i="0">
                <a:solidFill>
                  <a:srgbClr val="1E293B"/>
                </a:solidFill>
                <a:latin typeface="Calibri"/>
              </a:rPr>
              <a:t>W hội tụ khi terrain "quen" nhưng quen terrain ≠ navigate đúng. Không có signal nào nối inner loop với flight outcome (đến đích? tránh obstacle? va chạm?). Fix cần RL reward hoặc TTT loss gắn với navigation outcome — thay đổi kiến trúc lớn, ngoài tầm engineering thuần.</a:t>
            </a:r>
          </a:p>
        </p:txBody>
      </p:sp>
      <p:sp>
        <p:nvSpPr>
          <p:cNvPr id="22" name="CardBg3"/>
          <p:cNvSpPr/>
          <p:nvPr/>
        </p:nvSpPr>
        <p:spPr>
          <a:xfrm>
            <a:off x="6141720" y="1033271"/>
            <a:ext cx="2773680" cy="23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dge3"/>
          <p:cNvSpPr/>
          <p:nvPr/>
        </p:nvSpPr>
        <p:spPr>
          <a:xfrm>
            <a:off x="6233160" y="1124711"/>
            <a:ext cx="256032" cy="256032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Num3"/>
          <p:cNvSpPr txBox="1"/>
          <p:nvPr/>
        </p:nvSpPr>
        <p:spPr>
          <a:xfrm>
            <a:off x="6233160" y="112471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itle3"/>
          <p:cNvSpPr txBox="1"/>
          <p:nvPr/>
        </p:nvSpPr>
        <p:spPr>
          <a:xfrm>
            <a:off x="6562920" y="1124711"/>
            <a:ext cx="22610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B71C1C"/>
                </a:solidFill>
                <a:latin typeface="Calibri"/>
              </a:rPr>
              <a:t>Self-modifying Model Khó Certify</a:t>
            </a:r>
          </a:p>
        </p:txBody>
      </p:sp>
      <p:sp>
        <p:nvSpPr>
          <p:cNvPr id="26" name="Problem3"/>
          <p:cNvSpPr txBox="1"/>
          <p:nvPr/>
        </p:nvSpPr>
        <p:spPr>
          <a:xfrm>
            <a:off x="6233160" y="1493271"/>
            <a:ext cx="259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1">
                <a:solidFill>
                  <a:srgbClr val="64748B"/>
                </a:solidFill>
                <a:latin typeface="Calibri"/>
              </a:rPr>
              <a:t>FAA/EASA yêu cầu determinism — W tự thay đổi mỗi frame vi phạm safety principle</a:t>
            </a:r>
          </a:p>
        </p:txBody>
      </p:sp>
      <p:sp>
        <p:nvSpPr>
          <p:cNvPr id="27" name="Div3"/>
          <p:cNvSpPr/>
          <p:nvPr/>
        </p:nvSpPr>
        <p:spPr>
          <a:xfrm>
            <a:off x="6233160" y="1783271"/>
            <a:ext cx="2590800" cy="18288"/>
          </a:xfrm>
          <a:prstGeom prst="rect">
            <a:avLst/>
          </a:prstGeom>
          <a:solidFill>
            <a:srgbClr val="FFC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olution3"/>
          <p:cNvSpPr txBox="1"/>
          <p:nvPr/>
        </p:nvSpPr>
        <p:spPr>
          <a:xfrm>
            <a:off x="6233160" y="1828271"/>
            <a:ext cx="2590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1B5E20"/>
                </a:solidFill>
                <a:latin typeface="Calibri"/>
              </a:rPr>
              <a:t>→  Simplex Architecture</a:t>
            </a:r>
          </a:p>
        </p:txBody>
      </p:sp>
      <p:sp>
        <p:nvSpPr>
          <p:cNvPr id="29" name="Desc3"/>
          <p:cNvSpPr txBox="1"/>
          <p:nvPr/>
        </p:nvSpPr>
        <p:spPr>
          <a:xfrm>
            <a:off x="6233160" y="2113271"/>
            <a:ext cx="2590800" cy="12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70" b="0" i="0">
                <a:solidFill>
                  <a:srgbClr val="1E293B"/>
                </a:solidFill>
                <a:latin typeface="Calibri"/>
              </a:rPr>
              <a:t>Chạy certified static model song song Titans. Safety Monitor override khi output deviation &gt; ε. Chỉ certify phần static deterministic — Titans W layer nằm ngoài safety-critical path. Cần FAA/EASA regulatory pathway riêng, ước tính 12–18 tháng.</a:t>
            </a:r>
          </a:p>
        </p:txBody>
      </p:sp>
      <p:sp>
        <p:nvSpPr>
          <p:cNvPr id="30" name="Footer"/>
          <p:cNvSpPr txBox="1"/>
          <p:nvPr/>
        </p:nvSpPr>
        <p:spPr>
          <a:xfrm>
            <a:off x="228600" y="3533271"/>
            <a:ext cx="868680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64748B"/>
                </a:solidFill>
                <a:latin typeface="Calibri"/>
              </a:rPr>
              <a:t>Thách thức 1–2 là giới hạn fundamental của kiến trúc hiện tại — cần data thật và reward signal để giải, không có shortcut kỹ thuật. Thách thức 3 giải quyết được qua Simplex Architecture nhưng đòi regulatory pathway dài hạn.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